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6" r:id="rId3"/>
    <p:sldId id="257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5050"/>
    <a:srgbClr val="FF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5521" autoAdjust="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E5062-0C16-927D-522C-9658F10B57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9929F5-9905-A109-3B3C-FD6C36CC79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D368F5-E28A-48DA-B189-A39F25834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3E89FB-0AEC-40DA-944B-EB6C1352857C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D54128-8240-1EA7-C71C-BA5722A4F4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CF4A81-30EA-CF94-B959-B06AEAAAA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3E497-F561-411E-9482-6CFC6CF14B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98411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423B0-00BB-333B-5949-10E5FE93C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73BBA4-FC98-93C3-E117-8383345614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9F7CF8-2EA8-2B08-E2FF-056A297C3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3E89FB-0AEC-40DA-944B-EB6C1352857C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5A66B2-EFAD-F8D7-F058-E92F3E6F14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CD6570-6E9E-5888-9DE3-F4BCBA444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3E497-F561-411E-9482-6CFC6CF14B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833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A7140-A1B2-C395-CE3B-5C3C8FD863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6F900A-2E7A-020B-B6CF-78A6AC5628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834C8E-6CD9-C530-FFFA-8D63206E30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3E89FB-0AEC-40DA-944B-EB6C1352857C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E3ABC7-5D86-BE50-3F8F-2B24B54D8C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6F587-5A5C-D7A1-4D60-599ABBAE9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3E497-F561-411E-9482-6CFC6CF14B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29921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201C8-9641-1A99-CD03-D5F7DBE08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1244C4-2CED-3B3B-D951-17E0EB252A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681AE2-10DE-6708-6153-16989C5862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7CF6CA-B6CF-7650-885A-E20AB0E59A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3E89FB-0AEC-40DA-944B-EB6C1352857C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E63C19-2B1A-D88B-4B0A-86B4742E59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A03012-7209-6006-C1A9-1C065795D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3E497-F561-411E-9482-6CFC6CF14B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664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A03F2-BCDF-2ECD-9AA6-B554D110DB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3869C6-B7F5-089B-1B22-615CF86642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6FE9AD-B87C-356D-17CF-A6BACFD54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96BD3F-8E07-C83D-13B3-E21FC83D14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E96E3E2-7797-B6D9-F8C6-24E2BBC73FC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3EC6CC9-3090-40FE-2B26-85C2DA539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3E89FB-0AEC-40DA-944B-EB6C1352857C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C908C55-93AE-934C-1780-DBF129E5CF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4D89ED-45F3-1479-43EE-DA81F2412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3E497-F561-411E-9482-6CFC6CF14B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2263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49A626-CC73-994B-D7F9-5AEB4A80E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7C0B7B-B6D7-2D08-701A-BDA6BB46F5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3E89FB-0AEC-40DA-944B-EB6C1352857C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9FAE971-9D5F-098F-D224-F86BEE9DE8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1DCB52-8F63-A186-34B4-C1E31E038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3E497-F561-411E-9482-6CFC6CF14B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9074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D47122-7EFC-E58A-DFBC-D2377776C4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3E89FB-0AEC-40DA-944B-EB6C1352857C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DFFF20-3BC7-3D9A-EF0C-D3C680267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F4900E-3CE4-DC33-5102-9B49B2997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3E497-F561-411E-9482-6CFC6CF14B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4624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7FE0C7-63BE-A884-E568-09ADA588F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5F92E9-7258-73F3-4FC3-D18387CC60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CE1D2C-0C43-516A-98CE-1F7E92AC88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4428CD-8B62-C93B-B662-3F0646D1CF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3E89FB-0AEC-40DA-944B-EB6C1352857C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3F2386-1742-8B84-0760-1ADF120433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886663-FA41-2616-FF0C-35CA3F993F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3E497-F561-411E-9482-6CFC6CF14B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8893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74EB8-7BE9-499E-837D-7C7661CE77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3C84A8-1AE9-C4AD-B4DB-236FC8B1D1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7A1FD0-9429-94A9-AD79-823AAF7851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F8DFD3-1E70-12E9-D1BA-9AE009D78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3E89FB-0AEC-40DA-944B-EB6C1352857C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C31102-3EA7-6C6B-1F94-6A6110823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FAF2FF-2695-68E9-E4E7-CD9CFCECB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3E497-F561-411E-9482-6CFC6CF14B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7854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FC8BC5-614E-D8BF-50D9-8BE1A90562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2F766FC-F1A3-575D-4351-55B5763CDB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B7BC0C-A320-6893-FDC8-1550A97C4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3E89FB-0AEC-40DA-944B-EB6C1352857C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27D506-B5C8-B8A8-BB89-EBA252CC3E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3BAAAE-C476-10FE-52F3-F0206C171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3E497-F561-411E-9482-6CFC6CF14B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044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4CEAEAD-8395-055F-5686-E1055DBC282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FA94B2-8839-B9E3-C82C-02E8976285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BF97BD-435A-6EB7-232B-4F7A36AED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3E89FB-0AEC-40DA-944B-EB6C1352857C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EDA058-2EB6-6C81-E2F3-9EC8D82BDA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9C94F-56EB-0294-369A-00B0FEF87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3E497-F561-411E-9482-6CFC6CF14B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85910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72B7692-3E54-8C4D-F391-B1E94D654C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8BE9F0-3A5A-EC2B-77AB-0775190669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B8B1F5-77B9-5BD1-4332-41F562D1B9E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3E89FB-0AEC-40DA-944B-EB6C1352857C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74E82A-E920-6A69-8D29-A30D616FA9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DCF3F1-AFCB-D339-4E5D-FF1F1E8AC1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13E497-F561-411E-9482-6CFC6CF14B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416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jp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jp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jp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26E97CBD-FBB7-58B9-8FAB-ABF1FF4B4DAC}"/>
              </a:ext>
            </a:extLst>
          </p:cNvPr>
          <p:cNvGrpSpPr/>
          <p:nvPr/>
        </p:nvGrpSpPr>
        <p:grpSpPr>
          <a:xfrm>
            <a:off x="816604" y="301549"/>
            <a:ext cx="9437392" cy="7863741"/>
            <a:chOff x="816604" y="301549"/>
            <a:chExt cx="9437392" cy="786374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E84FEEE-53EF-8973-9599-5E3E9693AFC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9746" y="670881"/>
              <a:ext cx="1828800" cy="1828800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5EBAB2F-4CFC-5B36-B755-4F93417BC35D}"/>
                </a:ext>
              </a:extLst>
            </p:cNvPr>
            <p:cNvSpPr txBox="1"/>
            <p:nvPr/>
          </p:nvSpPr>
          <p:spPr>
            <a:xfrm>
              <a:off x="1222488" y="301549"/>
              <a:ext cx="12633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Nanocube</a:t>
              </a:r>
              <a:endParaRPr lang="en-US" dirty="0"/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F2035EE-5DCE-64FB-E05B-6EDB077057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24200" y="670881"/>
              <a:ext cx="1828800" cy="182880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2064229-A2A0-F27B-5DF2-16436A5F65BA}"/>
                </a:ext>
              </a:extLst>
            </p:cNvPr>
            <p:cNvSpPr txBox="1"/>
            <p:nvPr/>
          </p:nvSpPr>
          <p:spPr>
            <a:xfrm>
              <a:off x="3526776" y="301549"/>
              <a:ext cx="12633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Nanorod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F6ED386-8B60-17B3-7F5F-4C71EDE80078}"/>
                </a:ext>
              </a:extLst>
            </p:cNvPr>
            <p:cNvSpPr txBox="1"/>
            <p:nvPr/>
          </p:nvSpPr>
          <p:spPr>
            <a:xfrm>
              <a:off x="5548322" y="301549"/>
              <a:ext cx="15460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Nanosphere</a:t>
              </a:r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640B3CC3-9CE2-A1C1-DDBA-000C0182C70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13320" y="670881"/>
              <a:ext cx="1828800" cy="1828800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2440FB1-5584-5AC8-35B0-84CA6E06CD7C}"/>
                </a:ext>
              </a:extLst>
            </p:cNvPr>
            <p:cNvSpPr txBox="1"/>
            <p:nvPr/>
          </p:nvSpPr>
          <p:spPr>
            <a:xfrm>
              <a:off x="7654691" y="301549"/>
              <a:ext cx="15460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Core-shell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2A4890A-C21D-AA5B-40A0-55A3C9C37C7F}"/>
                </a:ext>
              </a:extLst>
            </p:cNvPr>
            <p:cNvSpPr txBox="1"/>
            <p:nvPr/>
          </p:nvSpPr>
          <p:spPr>
            <a:xfrm rot="5400000">
              <a:off x="9578130" y="1271809"/>
              <a:ext cx="9823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Lyu’s</a:t>
              </a:r>
            </a:p>
          </p:txBody>
        </p:sp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0AFC395-A309-E235-EE6F-795BAA3D62F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249" y="670881"/>
              <a:ext cx="1828800" cy="1828800"/>
            </a:xfrm>
            <a:prstGeom prst="rect">
              <a:avLst/>
            </a:prstGeom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BB5207A8-BDD5-3283-470E-8C09ABF9EBE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332"/>
            <a:stretch>
              <a:fillRect/>
            </a:stretch>
          </p:blipFill>
          <p:spPr>
            <a:xfrm>
              <a:off x="974404" y="2849141"/>
              <a:ext cx="2356316" cy="1828800"/>
            </a:xfrm>
            <a:prstGeom prst="rect">
              <a:avLst/>
            </a:prstGeom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DF2FAB0D-FB86-F1EB-91E3-23FA35FD87F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744"/>
            <a:stretch>
              <a:fillRect/>
            </a:stretch>
          </p:blipFill>
          <p:spPr>
            <a:xfrm>
              <a:off x="1602535" y="3007904"/>
              <a:ext cx="2829023" cy="1828800"/>
            </a:xfrm>
            <a:prstGeom prst="rect">
              <a:avLst/>
            </a:prstGeom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DE7A8CCA-D1A2-A8E4-DB47-E17A632A951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41245" y="3168860"/>
              <a:ext cx="1846659" cy="1828800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E2666A45-CDF7-FDD4-60F7-DFB972267DA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41038" y="3329816"/>
              <a:ext cx="1832372" cy="1828800"/>
            </a:xfrm>
            <a:prstGeom prst="rect">
              <a:avLst/>
            </a:prstGeom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B11B00AA-E53F-CD61-8B16-ACBBA70CDAB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65822" y="3516127"/>
              <a:ext cx="1907381" cy="1828800"/>
            </a:xfrm>
            <a:prstGeom prst="rect">
              <a:avLst/>
            </a:prstGeom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F8A59F79-A987-4DF3-1EF1-615E123CC5E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90912" y="3683689"/>
              <a:ext cx="2364581" cy="1828800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DF83F84E-E7C0-CD3B-7E3D-C8C7CB954DD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67131" y="3797250"/>
              <a:ext cx="1825235" cy="1828800"/>
            </a:xfrm>
            <a:prstGeom prst="rect">
              <a:avLst/>
            </a:prstGeom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DFF022C3-E6C2-3AED-6B53-63D33FE54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81061" y="3971331"/>
              <a:ext cx="1846659" cy="1828800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ADCA8E39-3EDA-1109-1CF2-0CB36D6CE50F}"/>
                </a:ext>
              </a:extLst>
            </p:cNvPr>
            <p:cNvSpPr txBox="1"/>
            <p:nvPr/>
          </p:nvSpPr>
          <p:spPr>
            <a:xfrm rot="5400000">
              <a:off x="9400081" y="4652038"/>
              <a:ext cx="9823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Kaggle</a:t>
              </a:r>
            </a:p>
          </p:txBody>
        </p:sp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28C284B0-112A-D406-1ECD-A7FD1F63EB3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55168" y="4174889"/>
              <a:ext cx="1946672" cy="1828800"/>
            </a:xfrm>
            <a:prstGeom prst="rect">
              <a:avLst/>
            </a:prstGeom>
          </p:spPr>
        </p:pic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DF40A974-9F59-8704-AC06-91D91D5CDFFD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604" y="5505883"/>
              <a:ext cx="2710118" cy="1828800"/>
            </a:xfrm>
            <a:prstGeom prst="rect">
              <a:avLst/>
            </a:prstGeom>
          </p:spPr>
        </p:pic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AAC28EFE-675E-DF31-B594-71139E4AA2BC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30190" y="5800131"/>
              <a:ext cx="2616465" cy="1828800"/>
            </a:xfrm>
            <a:prstGeom prst="rect">
              <a:avLst/>
            </a:prstGeom>
          </p:spPr>
        </p:pic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8B3435E5-C43B-6D0A-7DDF-6D02F6026C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00203" y="5895658"/>
              <a:ext cx="2854712" cy="1828800"/>
            </a:xfrm>
            <a:prstGeom prst="rect">
              <a:avLst/>
            </a:prstGeom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69B9AD01-7E53-958E-9FDB-C494DA55B1EF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16547" y="6165266"/>
              <a:ext cx="1828800" cy="1828800"/>
            </a:xfrm>
            <a:prstGeom prst="rect">
              <a:avLst/>
            </a:prstGeom>
          </p:spPr>
        </p:pic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FB65E001-A98E-D65B-97A5-4138CBF44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14104" y="6336490"/>
              <a:ext cx="1828800" cy="1828800"/>
            </a:xfrm>
            <a:prstGeom prst="rect">
              <a:avLst/>
            </a:prstGeom>
          </p:spPr>
        </p:pic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EF4A4042-8746-299D-DA6C-A57F3B14C4FF}"/>
                </a:ext>
              </a:extLst>
            </p:cNvPr>
            <p:cNvSpPr txBox="1"/>
            <p:nvPr/>
          </p:nvSpPr>
          <p:spPr>
            <a:xfrm rot="5400000">
              <a:off x="9510893" y="6949655"/>
              <a:ext cx="9823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MCF</a:t>
              </a:r>
            </a:p>
          </p:txBody>
        </p: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F3A60431-5757-6E84-E373-92908EF4BDF4}"/>
              </a:ext>
            </a:extLst>
          </p:cNvPr>
          <p:cNvSpPr txBox="1"/>
          <p:nvPr/>
        </p:nvSpPr>
        <p:spPr>
          <a:xfrm>
            <a:off x="816604" y="8316686"/>
            <a:ext cx="88900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Figure 1. Representative images from the dataset, including </a:t>
            </a:r>
            <a:r>
              <a:rPr lang="en-US" dirty="0" err="1"/>
              <a:t>nanocubes</a:t>
            </a:r>
            <a:r>
              <a:rPr lang="en-US" dirty="0"/>
              <a:t>, nanorods, nanospheres, and core–shell structures obtained from Lyu’s dataset, Kaggle, and MCF.</a:t>
            </a:r>
          </a:p>
        </p:txBody>
      </p:sp>
    </p:spTree>
    <p:extLst>
      <p:ext uri="{BB962C8B-B14F-4D97-AF65-F5344CB8AC3E}">
        <p14:creationId xmlns:p14="http://schemas.microsoft.com/office/powerpoint/2010/main" val="13222986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11A17EFA-04CA-A77D-C68C-1E501957D8C2}"/>
              </a:ext>
            </a:extLst>
          </p:cNvPr>
          <p:cNvSpPr txBox="1"/>
          <p:nvPr/>
        </p:nvSpPr>
        <p:spPr>
          <a:xfrm>
            <a:off x="336884" y="3518034"/>
            <a:ext cx="110142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</a:t>
            </a:r>
            <a:r>
              <a:rPr lang="en-US" altLang="zh-CN" dirty="0"/>
              <a:t>igure 1.a. Well separated particles. b. one particle slightly overlap with </a:t>
            </a:r>
            <a:r>
              <a:rPr lang="en-US" altLang="zh-CN" dirty="0" err="1"/>
              <a:t>neighbouring</a:t>
            </a:r>
            <a:r>
              <a:rPr lang="en-US" altLang="zh-CN" dirty="0"/>
              <a:t> 3 particles. c. multiple nanoparticle overlapped together that human cannot recognize. </a:t>
            </a:r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C9FF4A1-CED7-43A5-D9E2-F68B90D45985}"/>
              </a:ext>
            </a:extLst>
          </p:cNvPr>
          <p:cNvGrpSpPr/>
          <p:nvPr/>
        </p:nvGrpSpPr>
        <p:grpSpPr>
          <a:xfrm>
            <a:off x="-152400" y="-2"/>
            <a:ext cx="11524653" cy="3339969"/>
            <a:chOff x="-152400" y="-2"/>
            <a:chExt cx="11524653" cy="3339969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E813BD2D-15A8-1579-F474-769E706CFF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393" r="52686" b="64277"/>
            <a:stretch>
              <a:fillRect/>
            </a:stretch>
          </p:blipFill>
          <p:spPr>
            <a:xfrm>
              <a:off x="4166135" y="-2"/>
              <a:ext cx="3358417" cy="3339967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8E55DD77-F41A-423F-0AB5-D2677B791F9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6884" y="0"/>
              <a:ext cx="3339967" cy="3339967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B8929856-D246-BB21-1C92-DE6CDBA0702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9791" t="18231" r="229" b="51826"/>
            <a:stretch>
              <a:fillRect/>
            </a:stretch>
          </p:blipFill>
          <p:spPr>
            <a:xfrm>
              <a:off x="8028449" y="-1"/>
              <a:ext cx="3343804" cy="3339966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ABD17EC-D728-0D08-B33A-615C03EA10B8}"/>
                </a:ext>
              </a:extLst>
            </p:cNvPr>
            <p:cNvSpPr txBox="1"/>
            <p:nvPr/>
          </p:nvSpPr>
          <p:spPr>
            <a:xfrm>
              <a:off x="-152400" y="0"/>
              <a:ext cx="4892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(a)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8601C55-983A-B190-C37C-EBB105354542}"/>
                </a:ext>
              </a:extLst>
            </p:cNvPr>
            <p:cNvSpPr txBox="1"/>
            <p:nvPr/>
          </p:nvSpPr>
          <p:spPr>
            <a:xfrm>
              <a:off x="3676851" y="0"/>
              <a:ext cx="4892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(b)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81DC4A3-590D-5BA0-43C3-A3B0A4CAEFAC}"/>
                </a:ext>
              </a:extLst>
            </p:cNvPr>
            <p:cNvSpPr txBox="1"/>
            <p:nvPr/>
          </p:nvSpPr>
          <p:spPr>
            <a:xfrm>
              <a:off x="7524552" y="-2"/>
              <a:ext cx="4892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(c)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910221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6BC09F8-D95D-8E66-53C1-54EE0E424833}"/>
              </a:ext>
            </a:extLst>
          </p:cNvPr>
          <p:cNvSpPr txBox="1"/>
          <p:nvPr/>
        </p:nvSpPr>
        <p:spPr>
          <a:xfrm>
            <a:off x="0" y="0"/>
            <a:ext cx="37211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Data cleaning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92AB356-A834-8078-7E54-DC424553CCDC}"/>
              </a:ext>
            </a:extLst>
          </p:cNvPr>
          <p:cNvSpPr/>
          <p:nvPr/>
        </p:nvSpPr>
        <p:spPr>
          <a:xfrm>
            <a:off x="10436984" y="618850"/>
            <a:ext cx="1927496" cy="6313055"/>
          </a:xfrm>
          <a:prstGeom prst="rect">
            <a:avLst/>
          </a:prstGeom>
          <a:solidFill>
            <a:srgbClr val="92D050">
              <a:alpha val="6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EDA1932E-E7CE-D90E-555E-E6782C1CC3E6}"/>
              </a:ext>
            </a:extLst>
          </p:cNvPr>
          <p:cNvGrpSpPr/>
          <p:nvPr/>
        </p:nvGrpSpPr>
        <p:grpSpPr>
          <a:xfrm>
            <a:off x="2196769" y="-650722"/>
            <a:ext cx="7418932" cy="9062578"/>
            <a:chOff x="2196769" y="-650722"/>
            <a:chExt cx="7418932" cy="9062578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5A33B885-1185-CD21-DCE7-71F209DB53F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8401" t="50531" r="1848" b="-247"/>
            <a:stretch>
              <a:fillRect/>
            </a:stretch>
          </p:blipFill>
          <p:spPr>
            <a:xfrm rot="5400000">
              <a:off x="2478176" y="-40870"/>
              <a:ext cx="1830160" cy="1828800"/>
            </a:xfrm>
            <a:prstGeom prst="rect">
              <a:avLst/>
            </a:prstGeom>
          </p:spPr>
        </p:pic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98E193A4-FBCC-27D8-738C-3744DDCBDB79}"/>
                </a:ext>
              </a:extLst>
            </p:cNvPr>
            <p:cNvGrpSpPr/>
            <p:nvPr/>
          </p:nvGrpSpPr>
          <p:grpSpPr>
            <a:xfrm>
              <a:off x="2492711" y="1243511"/>
              <a:ext cx="857250" cy="369332"/>
              <a:chOff x="4531466" y="2454594"/>
              <a:chExt cx="857250" cy="369332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88F0C72-6BA8-67DA-86B7-2C9FF88AB672}"/>
                  </a:ext>
                </a:extLst>
              </p:cNvPr>
              <p:cNvSpPr/>
              <p:nvPr/>
            </p:nvSpPr>
            <p:spPr>
              <a:xfrm>
                <a:off x="4576043" y="2769062"/>
                <a:ext cx="768096" cy="5486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4D0C05F-8D29-3DCE-52E5-CB9F3AFE4E4D}"/>
                  </a:ext>
                </a:extLst>
              </p:cNvPr>
              <p:cNvSpPr txBox="1"/>
              <p:nvPr/>
            </p:nvSpPr>
            <p:spPr>
              <a:xfrm>
                <a:off x="4531466" y="2454594"/>
                <a:ext cx="8572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i="1" dirty="0">
                    <a:solidFill>
                      <a:schemeClr val="bg1"/>
                    </a:solidFill>
                  </a:rPr>
                  <a:t>20 nm</a:t>
                </a:r>
              </a:p>
            </p:txBody>
          </p:sp>
        </p:grpSp>
        <p:sp>
          <p:nvSpPr>
            <p:cNvPr id="21" name="Arrow: Right 20">
              <a:extLst>
                <a:ext uri="{FF2B5EF4-FFF2-40B4-BE49-F238E27FC236}">
                  <a16:creationId xmlns:a16="http://schemas.microsoft.com/office/drawing/2014/main" id="{E50DA43C-A467-C8F0-8361-77E488617599}"/>
                </a:ext>
              </a:extLst>
            </p:cNvPr>
            <p:cNvSpPr/>
            <p:nvPr/>
          </p:nvSpPr>
          <p:spPr>
            <a:xfrm>
              <a:off x="4489216" y="1368446"/>
              <a:ext cx="3029527" cy="360218"/>
            </a:xfrm>
            <a:prstGeom prst="rightArrow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27E8EC0-0831-41FB-CBA1-2D13E0DEDD0C}"/>
                </a:ext>
              </a:extLst>
            </p:cNvPr>
            <p:cNvSpPr txBox="1"/>
            <p:nvPr/>
          </p:nvSpPr>
          <p:spPr>
            <a:xfrm>
              <a:off x="2380160" y="-364608"/>
              <a:ext cx="22010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Case 1: with background only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6FD13F5-30FD-F918-4E06-4E23B0B0B0F1}"/>
                </a:ext>
              </a:extLst>
            </p:cNvPr>
            <p:cNvSpPr txBox="1"/>
            <p:nvPr/>
          </p:nvSpPr>
          <p:spPr>
            <a:xfrm>
              <a:off x="5572779" y="-650722"/>
              <a:ext cx="99506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Strategies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B84D207-94A9-DE9C-DDE9-A398B45F49A2}"/>
                </a:ext>
              </a:extLst>
            </p:cNvPr>
            <p:cNvSpPr txBox="1"/>
            <p:nvPr/>
          </p:nvSpPr>
          <p:spPr>
            <a:xfrm>
              <a:off x="3037614" y="-650722"/>
              <a:ext cx="89880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Cases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C920FE4-0672-CBE8-D035-69A833570FFA}"/>
                </a:ext>
              </a:extLst>
            </p:cNvPr>
            <p:cNvSpPr txBox="1"/>
            <p:nvPr/>
          </p:nvSpPr>
          <p:spPr>
            <a:xfrm>
              <a:off x="4531870" y="-159397"/>
              <a:ext cx="3128260" cy="178510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Preferred: 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 dirty="0"/>
                <a:t>Smooth background: </a:t>
              </a:r>
              <a:r>
                <a:rPr lang="en-US" sz="1000" dirty="0" err="1"/>
                <a:t>Telea</a:t>
              </a:r>
              <a:r>
                <a:rPr lang="en-US" sz="1000" dirty="0"/>
                <a:t>, PDE, TV, or surface fitting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 dirty="0"/>
                <a:t>Texture background: Constrained </a:t>
              </a:r>
              <a:r>
                <a:rPr lang="en-US" sz="1000" dirty="0" err="1"/>
                <a:t>PatchMatch</a:t>
              </a:r>
              <a:r>
                <a:rPr lang="en-US" sz="1000" dirty="0"/>
                <a:t> or local patch synthesis</a:t>
              </a:r>
            </a:p>
            <a:p>
              <a:r>
                <a:rPr lang="en-US" sz="1000" dirty="0"/>
                <a:t>Advanced: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 dirty="0"/>
                <a:t>Smooth background: DCT-sparse or TEM-adapted inpainting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 dirty="0"/>
                <a:t>Texture background: </a:t>
              </a:r>
              <a:r>
                <a:rPr lang="en-US" sz="1000" dirty="0">
                  <a:solidFill>
                    <a:srgbClr val="000000"/>
                  </a:solidFill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TEM-adapted </a:t>
              </a:r>
              <a:r>
                <a:rPr lang="en-US" sz="1000" dirty="0" err="1">
                  <a:solidFill>
                    <a:srgbClr val="000000"/>
                  </a:solidFill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LaMa</a:t>
              </a:r>
              <a:r>
                <a:rPr lang="en-US" sz="1000" dirty="0">
                  <a:solidFill>
                    <a:srgbClr val="000000"/>
                  </a:solidFill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/partial convolution</a:t>
              </a:r>
              <a:endParaRPr lang="en-US" sz="10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endParaRPr lang="en-US" sz="1000" dirty="0"/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7FD8FF41-66F8-2DFC-AFAE-DD9037AA8CC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8401" t="50531" r="1848" b="-247"/>
            <a:stretch>
              <a:fillRect/>
            </a:stretch>
          </p:blipFill>
          <p:spPr>
            <a:xfrm rot="5400000">
              <a:off x="7786220" y="-40870"/>
              <a:ext cx="1830160" cy="1828800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8E08666-43A4-630D-1BA5-F51EFE0A5C08}"/>
                </a:ext>
              </a:extLst>
            </p:cNvPr>
            <p:cNvSpPr txBox="1"/>
            <p:nvPr/>
          </p:nvSpPr>
          <p:spPr>
            <a:xfrm>
              <a:off x="8251895" y="-641607"/>
              <a:ext cx="121742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Target result</a:t>
              </a:r>
            </a:p>
          </p:txBody>
        </p:sp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9E4779B3-77E3-2734-E832-13F54BC8244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7630" t="10903" r="24793" b="61518"/>
            <a:stretch>
              <a:fillRect/>
            </a:stretch>
          </p:blipFill>
          <p:spPr>
            <a:xfrm rot="5400000">
              <a:off x="2492737" y="2130328"/>
              <a:ext cx="1828747" cy="1828800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61E76B0-2391-243B-8F09-C04BE3163EF6}"/>
                </a:ext>
              </a:extLst>
            </p:cNvPr>
            <p:cNvSpPr txBox="1"/>
            <p:nvPr/>
          </p:nvSpPr>
          <p:spPr>
            <a:xfrm>
              <a:off x="2380159" y="1834669"/>
              <a:ext cx="210905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Case 2: with particle only</a:t>
              </a:r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A1DC89AB-3065-5EDB-ABEB-C0D2BA0AA4E4}"/>
                </a:ext>
              </a:extLst>
            </p:cNvPr>
            <p:cNvGrpSpPr/>
            <p:nvPr/>
          </p:nvGrpSpPr>
          <p:grpSpPr>
            <a:xfrm>
              <a:off x="2428145" y="3397194"/>
              <a:ext cx="852678" cy="353836"/>
              <a:chOff x="4536038" y="2482026"/>
              <a:chExt cx="852678" cy="353836"/>
            </a:xfrm>
          </p:grpSpPr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77305E91-514B-72D8-0305-91CE46005DD5}"/>
                  </a:ext>
                </a:extLst>
              </p:cNvPr>
              <p:cNvSpPr/>
              <p:nvPr/>
            </p:nvSpPr>
            <p:spPr>
              <a:xfrm>
                <a:off x="4703763" y="2780998"/>
                <a:ext cx="343204" cy="5486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2A3AF7B-4331-D42D-4BA2-0ED8815335CB}"/>
                  </a:ext>
                </a:extLst>
              </p:cNvPr>
              <p:cNvSpPr txBox="1"/>
              <p:nvPr/>
            </p:nvSpPr>
            <p:spPr>
              <a:xfrm>
                <a:off x="4536038" y="2482026"/>
                <a:ext cx="85267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i="1" dirty="0">
                    <a:solidFill>
                      <a:schemeClr val="bg1"/>
                    </a:solidFill>
                  </a:rPr>
                  <a:t>10 nm</a:t>
                </a:r>
              </a:p>
            </p:txBody>
          </p:sp>
        </p:grpSp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65FE8F1D-7F1F-3BB0-D1E6-48FE51EA9E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7630" t="10903" r="24793" b="61518"/>
            <a:stretch>
              <a:fillRect/>
            </a:stretch>
          </p:blipFill>
          <p:spPr>
            <a:xfrm rot="5400000">
              <a:off x="7786927" y="2130328"/>
              <a:ext cx="1828747" cy="1828800"/>
            </a:xfrm>
            <a:prstGeom prst="rect">
              <a:avLst/>
            </a:prstGeom>
          </p:spPr>
        </p:pic>
        <p:sp>
          <p:nvSpPr>
            <p:cNvPr id="43" name="Arrow: Right 42">
              <a:extLst>
                <a:ext uri="{FF2B5EF4-FFF2-40B4-BE49-F238E27FC236}">
                  <a16:creationId xmlns:a16="http://schemas.microsoft.com/office/drawing/2014/main" id="{204D5744-E30D-FEC3-730E-1D53F7681DB4}"/>
                </a:ext>
              </a:extLst>
            </p:cNvPr>
            <p:cNvSpPr/>
            <p:nvPr/>
          </p:nvSpPr>
          <p:spPr>
            <a:xfrm>
              <a:off x="4522902" y="3153550"/>
              <a:ext cx="3029527" cy="360218"/>
            </a:xfrm>
            <a:prstGeom prst="rightArrow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8B4A1C6-499D-431B-B6CA-B8F7023649C9}"/>
                </a:ext>
              </a:extLst>
            </p:cNvPr>
            <p:cNvSpPr txBox="1"/>
            <p:nvPr/>
          </p:nvSpPr>
          <p:spPr>
            <a:xfrm>
              <a:off x="4581236" y="2199011"/>
              <a:ext cx="2430780" cy="86177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Preferred: 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 dirty="0"/>
                <a:t>Same-particle </a:t>
              </a:r>
              <a:r>
                <a:rPr lang="en-US" sz="1000" dirty="0" err="1"/>
                <a:t>PatchMatch</a:t>
              </a:r>
              <a:r>
                <a:rPr lang="en-US" sz="1000" dirty="0"/>
                <a:t> or directional interpolation</a:t>
              </a:r>
            </a:p>
            <a:p>
              <a:r>
                <a:rPr lang="en-US" sz="1000" dirty="0"/>
                <a:t>Advanced: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 dirty="0"/>
                <a:t>TEM-adapted inpainting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83671C5D-D350-AFE5-DB45-8B691A622F17}"/>
                </a:ext>
              </a:extLst>
            </p:cNvPr>
            <p:cNvSpPr txBox="1"/>
            <p:nvPr/>
          </p:nvSpPr>
          <p:spPr>
            <a:xfrm>
              <a:off x="2198647" y="4030904"/>
              <a:ext cx="25767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Case 3: with background + particle</a:t>
              </a:r>
            </a:p>
          </p:txBody>
        </p:sp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FC4BE566-2E37-75EF-F31D-D934F791E40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5126" t="15640" r="13208" b="42822"/>
            <a:stretch>
              <a:fillRect/>
            </a:stretch>
          </p:blipFill>
          <p:spPr>
            <a:xfrm rot="5400000">
              <a:off x="2458697" y="4308139"/>
              <a:ext cx="1834513" cy="1828800"/>
            </a:xfrm>
            <a:prstGeom prst="rect">
              <a:avLst/>
            </a:prstGeom>
          </p:spPr>
        </p:pic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D50CE974-E61F-B4D4-A6E3-A6F3EFD1227A}"/>
                </a:ext>
              </a:extLst>
            </p:cNvPr>
            <p:cNvSpPr/>
            <p:nvPr/>
          </p:nvSpPr>
          <p:spPr>
            <a:xfrm>
              <a:off x="2629277" y="5931983"/>
              <a:ext cx="684953" cy="4605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10C01F06-B0CD-29DB-F322-DDAC0B24C133}"/>
                </a:ext>
              </a:extLst>
            </p:cNvPr>
            <p:cNvSpPr txBox="1"/>
            <p:nvPr/>
          </p:nvSpPr>
          <p:spPr>
            <a:xfrm>
              <a:off x="2537288" y="5670265"/>
              <a:ext cx="85267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i="1" dirty="0">
                  <a:solidFill>
                    <a:schemeClr val="bg1"/>
                  </a:solidFill>
                </a:rPr>
                <a:t>15 nm</a:t>
              </a:r>
            </a:p>
          </p:txBody>
        </p:sp>
        <p:sp>
          <p:nvSpPr>
            <p:cNvPr id="54" name="Arrow: Right 53">
              <a:extLst>
                <a:ext uri="{FF2B5EF4-FFF2-40B4-BE49-F238E27FC236}">
                  <a16:creationId xmlns:a16="http://schemas.microsoft.com/office/drawing/2014/main" id="{575B578C-650A-AA30-C22D-009D668D166A}"/>
                </a:ext>
              </a:extLst>
            </p:cNvPr>
            <p:cNvSpPr/>
            <p:nvPr/>
          </p:nvSpPr>
          <p:spPr>
            <a:xfrm>
              <a:off x="4417722" y="5655542"/>
              <a:ext cx="3029527" cy="360218"/>
            </a:xfrm>
            <a:prstGeom prst="rightArrow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776B3AAC-1BD6-5AE0-24B5-C726F78E0579}"/>
                </a:ext>
              </a:extLst>
            </p:cNvPr>
            <p:cNvSpPr txBox="1"/>
            <p:nvPr/>
          </p:nvSpPr>
          <p:spPr>
            <a:xfrm>
              <a:off x="4581236" y="4460275"/>
              <a:ext cx="2430780" cy="86177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Preferred: 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 dirty="0"/>
                <a:t>Manual shape completion plus separate filling</a:t>
              </a:r>
            </a:p>
            <a:p>
              <a:r>
                <a:rPr lang="en-US" sz="1000" dirty="0"/>
                <a:t>Advanced: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 dirty="0"/>
                <a:t>Morphology-assisted restoration</a:t>
              </a:r>
            </a:p>
          </p:txBody>
        </p:sp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FEBF4C5D-882A-DFB6-1835-A3A0AABCAF0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5126" t="15640" r="13208" b="42822"/>
            <a:stretch>
              <a:fillRect/>
            </a:stretch>
          </p:blipFill>
          <p:spPr>
            <a:xfrm rot="5400000">
              <a:off x="7784044" y="4347151"/>
              <a:ext cx="1834513" cy="1828800"/>
            </a:xfrm>
            <a:prstGeom prst="rect">
              <a:avLst/>
            </a:prstGeom>
          </p:spPr>
        </p:pic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717C2550-3F17-D3A6-516B-113D0ED7B68F}"/>
                </a:ext>
              </a:extLst>
            </p:cNvPr>
            <p:cNvSpPr txBox="1"/>
            <p:nvPr/>
          </p:nvSpPr>
          <p:spPr>
            <a:xfrm>
              <a:off x="2196769" y="6231720"/>
              <a:ext cx="25767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Case 4: highly overlapped particles</a:t>
              </a:r>
            </a:p>
          </p:txBody>
        </p:sp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AAC441E0-C552-4E26-C044-1D082F72722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7399" t="26775" r="6114" b="56978"/>
            <a:stretch>
              <a:fillRect/>
            </a:stretch>
          </p:blipFill>
          <p:spPr>
            <a:xfrm>
              <a:off x="2437338" y="6575684"/>
              <a:ext cx="1853016" cy="1826321"/>
            </a:xfrm>
            <a:prstGeom prst="rect">
              <a:avLst/>
            </a:prstGeom>
          </p:spPr>
        </p:pic>
        <p:sp>
          <p:nvSpPr>
            <p:cNvPr id="63" name="Arrow: Right 62">
              <a:extLst>
                <a:ext uri="{FF2B5EF4-FFF2-40B4-BE49-F238E27FC236}">
                  <a16:creationId xmlns:a16="http://schemas.microsoft.com/office/drawing/2014/main" id="{48C10027-9DA6-E1B6-6752-CD7E8841FAB5}"/>
                </a:ext>
              </a:extLst>
            </p:cNvPr>
            <p:cNvSpPr/>
            <p:nvPr/>
          </p:nvSpPr>
          <p:spPr>
            <a:xfrm>
              <a:off x="4422842" y="7395762"/>
              <a:ext cx="3029527" cy="360218"/>
            </a:xfrm>
            <a:prstGeom prst="rightArrow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279B97EC-56F4-5A0F-1B3F-B9D04367781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995" t="19434" r="182" b="70705"/>
            <a:stretch>
              <a:fillRect/>
            </a:stretch>
          </p:blipFill>
          <p:spPr>
            <a:xfrm>
              <a:off x="7786900" y="6575684"/>
              <a:ext cx="1828800" cy="1836172"/>
            </a:xfrm>
            <a:prstGeom prst="rect">
              <a:avLst/>
            </a:prstGeom>
          </p:spPr>
        </p:pic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A75C10E6-9526-8F91-BDF9-1184748E0D28}"/>
                </a:ext>
              </a:extLst>
            </p:cNvPr>
            <p:cNvSpPr txBox="1"/>
            <p:nvPr/>
          </p:nvSpPr>
          <p:spPr>
            <a:xfrm>
              <a:off x="4788589" y="6494968"/>
              <a:ext cx="2430780" cy="86177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Preferred: 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 dirty="0"/>
                <a:t>Manual shape completion plus separate filling</a:t>
              </a:r>
            </a:p>
            <a:p>
              <a:r>
                <a:rPr lang="en-US" sz="1000" dirty="0"/>
                <a:t>Advanced: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 dirty="0"/>
                <a:t>Morphology-assisted restoration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858452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38A3869A-C398-9F18-A77B-9192BEF6FE7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464"/>
          <a:stretch>
            <a:fillRect/>
          </a:stretch>
        </p:blipFill>
        <p:spPr>
          <a:xfrm>
            <a:off x="2579321" y="3801978"/>
            <a:ext cx="2718045" cy="292608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4B817C6-851E-3A5E-C1B8-40E08211F0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21" y="0"/>
            <a:ext cx="4619893" cy="335921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A14F7297-158B-1E94-60F7-28B2CAAEBD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9387" y="129942"/>
            <a:ext cx="3383113" cy="3429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DA8151A4-F0D2-15DF-A708-56CF20F67B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2500" y="437826"/>
            <a:ext cx="3124792" cy="2979019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96A23A80-BB50-68A0-731F-33B36C7175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7287" y="3751080"/>
            <a:ext cx="3439005" cy="2976978"/>
          </a:xfrm>
          <a:prstGeom prst="rect">
            <a:avLst/>
          </a:prstGeom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854EC15-3601-D631-BADF-C34773EEE9D0}"/>
              </a:ext>
            </a:extLst>
          </p:cNvPr>
          <p:cNvCxnSpPr/>
          <p:nvPr/>
        </p:nvCxnSpPr>
        <p:spPr>
          <a:xfrm>
            <a:off x="2609850" y="1095375"/>
            <a:ext cx="1885950" cy="3905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E777E60-0473-0F37-6DA4-60CE4D6F765C}"/>
              </a:ext>
            </a:extLst>
          </p:cNvPr>
          <p:cNvCxnSpPr/>
          <p:nvPr/>
        </p:nvCxnSpPr>
        <p:spPr>
          <a:xfrm>
            <a:off x="2428875" y="2722997"/>
            <a:ext cx="1885950" cy="3905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AC7E187-B025-CF3B-F555-16C6AF4688CB}"/>
              </a:ext>
            </a:extLst>
          </p:cNvPr>
          <p:cNvCxnSpPr/>
          <p:nvPr/>
        </p:nvCxnSpPr>
        <p:spPr>
          <a:xfrm>
            <a:off x="3164856" y="244493"/>
            <a:ext cx="1885950" cy="3905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AC9EEB9-E838-208A-D9BD-B9CFF76CCDFA}"/>
              </a:ext>
            </a:extLst>
          </p:cNvPr>
          <p:cNvCxnSpPr>
            <a:cxnSpLocks/>
          </p:cNvCxnSpPr>
          <p:nvPr/>
        </p:nvCxnSpPr>
        <p:spPr>
          <a:xfrm flipH="1">
            <a:off x="2644998" y="264696"/>
            <a:ext cx="544569" cy="83067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FFB10E0-982E-CB29-5E1D-9E92156BFCB6}"/>
              </a:ext>
            </a:extLst>
          </p:cNvPr>
          <p:cNvCxnSpPr>
            <a:cxnSpLocks/>
          </p:cNvCxnSpPr>
          <p:nvPr/>
        </p:nvCxnSpPr>
        <p:spPr>
          <a:xfrm flipH="1">
            <a:off x="4471089" y="635018"/>
            <a:ext cx="544569" cy="83067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CD9EC8C-0950-5AB2-D4A5-097652AE312D}"/>
              </a:ext>
            </a:extLst>
          </p:cNvPr>
          <p:cNvCxnSpPr>
            <a:cxnSpLocks/>
          </p:cNvCxnSpPr>
          <p:nvPr/>
        </p:nvCxnSpPr>
        <p:spPr>
          <a:xfrm flipH="1">
            <a:off x="4362600" y="2296376"/>
            <a:ext cx="544569" cy="83067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F090683-6CBD-E232-CAEE-F281002F7B16}"/>
              </a:ext>
            </a:extLst>
          </p:cNvPr>
          <p:cNvCxnSpPr>
            <a:cxnSpLocks/>
          </p:cNvCxnSpPr>
          <p:nvPr/>
        </p:nvCxnSpPr>
        <p:spPr>
          <a:xfrm flipH="1">
            <a:off x="4362600" y="1581778"/>
            <a:ext cx="108489" cy="153174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8370399-6FA4-F779-6208-F57A9A8EE8AA}"/>
              </a:ext>
            </a:extLst>
          </p:cNvPr>
          <p:cNvCxnSpPr>
            <a:cxnSpLocks/>
          </p:cNvCxnSpPr>
          <p:nvPr/>
        </p:nvCxnSpPr>
        <p:spPr>
          <a:xfrm flipH="1">
            <a:off x="4907169" y="764632"/>
            <a:ext cx="108489" cy="153174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601D9B9-F549-BF79-5166-679F31F6BEC9}"/>
              </a:ext>
            </a:extLst>
          </p:cNvPr>
          <p:cNvCxnSpPr>
            <a:cxnSpLocks/>
          </p:cNvCxnSpPr>
          <p:nvPr/>
        </p:nvCxnSpPr>
        <p:spPr>
          <a:xfrm flipH="1">
            <a:off x="2459244" y="1161464"/>
            <a:ext cx="108489" cy="153174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0D8D22E-D709-7C7B-74C7-04FA14995AAC}"/>
              </a:ext>
            </a:extLst>
          </p:cNvPr>
          <p:cNvSpPr txBox="1"/>
          <p:nvPr/>
        </p:nvSpPr>
        <p:spPr>
          <a:xfrm>
            <a:off x="556327" y="439755"/>
            <a:ext cx="1239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Idea cube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0869F19-31CA-96DB-7779-26567B19EF26}"/>
              </a:ext>
            </a:extLst>
          </p:cNvPr>
          <p:cNvSpPr txBox="1"/>
          <p:nvPr/>
        </p:nvSpPr>
        <p:spPr>
          <a:xfrm>
            <a:off x="7466154" y="0"/>
            <a:ext cx="34326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Truncated by different planes</a:t>
            </a:r>
          </a:p>
        </p:txBody>
      </p:sp>
    </p:spTree>
    <p:extLst>
      <p:ext uri="{BB962C8B-B14F-4D97-AF65-F5344CB8AC3E}">
        <p14:creationId xmlns:p14="http://schemas.microsoft.com/office/powerpoint/2010/main" val="3733380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9" name="Group 128">
            <a:extLst>
              <a:ext uri="{FF2B5EF4-FFF2-40B4-BE49-F238E27FC236}">
                <a16:creationId xmlns:a16="http://schemas.microsoft.com/office/drawing/2014/main" id="{BBF60BF2-F66E-D649-DB74-947273450261}"/>
              </a:ext>
            </a:extLst>
          </p:cNvPr>
          <p:cNvGrpSpPr/>
          <p:nvPr/>
        </p:nvGrpSpPr>
        <p:grpSpPr>
          <a:xfrm>
            <a:off x="457720" y="-102590"/>
            <a:ext cx="14079130" cy="9482916"/>
            <a:chOff x="457720" y="-102590"/>
            <a:chExt cx="14079130" cy="9482916"/>
          </a:xfrm>
        </p:grpSpPr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F54B3C1E-3896-B210-563F-0688F76BDC2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9710" t="6581" r="17908" b="9910"/>
            <a:stretch>
              <a:fillRect/>
            </a:stretch>
          </p:blipFill>
          <p:spPr>
            <a:xfrm rot="16420139" flipH="1" flipV="1">
              <a:off x="2526538" y="3851426"/>
              <a:ext cx="1375106" cy="1326172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CC5905D1-4CB1-ED6B-35F9-B87587709C8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9710" t="6581" r="17908" b="9910"/>
            <a:stretch>
              <a:fillRect/>
            </a:stretch>
          </p:blipFill>
          <p:spPr>
            <a:xfrm>
              <a:off x="1055914" y="894529"/>
              <a:ext cx="1373352" cy="13716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EB8D3FB6-A4EB-00A1-3FBB-371AAFF6783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9710" t="6581" r="17908" b="9910"/>
            <a:stretch>
              <a:fillRect/>
            </a:stretch>
          </p:blipFill>
          <p:spPr>
            <a:xfrm>
              <a:off x="2429266" y="894529"/>
              <a:ext cx="1373352" cy="13716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584AA219-069F-1E9E-E018-008791DD90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9710" t="6581" r="17908" b="9910"/>
            <a:stretch>
              <a:fillRect/>
            </a:stretch>
          </p:blipFill>
          <p:spPr>
            <a:xfrm>
              <a:off x="2298097" y="5170697"/>
              <a:ext cx="1373352" cy="1371600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F5553935-68DD-5856-38BC-E64C768485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9710" t="6581" r="17908" b="9910"/>
            <a:stretch>
              <a:fillRect/>
            </a:stretch>
          </p:blipFill>
          <p:spPr>
            <a:xfrm rot="20975364">
              <a:off x="1054616" y="4123148"/>
              <a:ext cx="1373352" cy="1371600"/>
            </a:xfrm>
            <a:prstGeom prst="rect">
              <a:avLst/>
            </a:prstGeom>
          </p:spPr>
        </p:pic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42B9684-1A57-B8A4-82C5-C8F7CF211716}"/>
                </a:ext>
              </a:extLst>
            </p:cNvPr>
            <p:cNvSpPr/>
            <p:nvPr/>
          </p:nvSpPr>
          <p:spPr>
            <a:xfrm>
              <a:off x="2171951" y="5071603"/>
              <a:ext cx="377789" cy="404812"/>
            </a:xfrm>
            <a:custGeom>
              <a:avLst/>
              <a:gdLst>
                <a:gd name="csX0" fmla="*/ 676 w 377789"/>
                <a:gd name="csY0" fmla="*/ 273844 h 404812"/>
                <a:gd name="csX1" fmla="*/ 12582 w 377789"/>
                <a:gd name="csY1" fmla="*/ 280987 h 404812"/>
                <a:gd name="csX2" fmla="*/ 19726 w 377789"/>
                <a:gd name="csY2" fmla="*/ 285750 h 404812"/>
                <a:gd name="csX3" fmla="*/ 29251 w 377789"/>
                <a:gd name="csY3" fmla="*/ 290512 h 404812"/>
                <a:gd name="csX4" fmla="*/ 38776 w 377789"/>
                <a:gd name="csY4" fmla="*/ 297656 h 404812"/>
                <a:gd name="csX5" fmla="*/ 45920 w 377789"/>
                <a:gd name="csY5" fmla="*/ 302419 h 404812"/>
                <a:gd name="csX6" fmla="*/ 53064 w 377789"/>
                <a:gd name="csY6" fmla="*/ 309562 h 404812"/>
                <a:gd name="csX7" fmla="*/ 72114 w 377789"/>
                <a:gd name="csY7" fmla="*/ 321469 h 404812"/>
                <a:gd name="csX8" fmla="*/ 91164 w 377789"/>
                <a:gd name="csY8" fmla="*/ 335756 h 404812"/>
                <a:gd name="csX9" fmla="*/ 110214 w 377789"/>
                <a:gd name="csY9" fmla="*/ 357187 h 404812"/>
                <a:gd name="csX10" fmla="*/ 124501 w 377789"/>
                <a:gd name="csY10" fmla="*/ 371475 h 404812"/>
                <a:gd name="csX11" fmla="*/ 126882 w 377789"/>
                <a:gd name="csY11" fmla="*/ 378619 h 404812"/>
                <a:gd name="csX12" fmla="*/ 134026 w 377789"/>
                <a:gd name="csY12" fmla="*/ 383381 h 404812"/>
                <a:gd name="csX13" fmla="*/ 138789 w 377789"/>
                <a:gd name="csY13" fmla="*/ 397669 h 404812"/>
                <a:gd name="csX14" fmla="*/ 141170 w 377789"/>
                <a:gd name="csY14" fmla="*/ 404812 h 404812"/>
                <a:gd name="csX15" fmla="*/ 148314 w 377789"/>
                <a:gd name="csY15" fmla="*/ 400050 h 404812"/>
                <a:gd name="csX16" fmla="*/ 153076 w 377789"/>
                <a:gd name="csY16" fmla="*/ 390525 h 404812"/>
                <a:gd name="csX17" fmla="*/ 157839 w 377789"/>
                <a:gd name="csY17" fmla="*/ 383381 h 404812"/>
                <a:gd name="csX18" fmla="*/ 167364 w 377789"/>
                <a:gd name="csY18" fmla="*/ 371475 h 404812"/>
                <a:gd name="csX19" fmla="*/ 184032 w 377789"/>
                <a:gd name="csY19" fmla="*/ 347662 h 404812"/>
                <a:gd name="csX20" fmla="*/ 188795 w 377789"/>
                <a:gd name="csY20" fmla="*/ 340519 h 404812"/>
                <a:gd name="csX21" fmla="*/ 207845 w 377789"/>
                <a:gd name="csY21" fmla="*/ 321469 h 404812"/>
                <a:gd name="csX22" fmla="*/ 222132 w 377789"/>
                <a:gd name="csY22" fmla="*/ 307181 h 404812"/>
                <a:gd name="csX23" fmla="*/ 231657 w 377789"/>
                <a:gd name="csY23" fmla="*/ 297656 h 404812"/>
                <a:gd name="csX24" fmla="*/ 241182 w 377789"/>
                <a:gd name="csY24" fmla="*/ 285750 h 404812"/>
                <a:gd name="csX25" fmla="*/ 255470 w 377789"/>
                <a:gd name="csY25" fmla="*/ 259556 h 404812"/>
                <a:gd name="csX26" fmla="*/ 260232 w 377789"/>
                <a:gd name="csY26" fmla="*/ 252412 h 404812"/>
                <a:gd name="csX27" fmla="*/ 284045 w 377789"/>
                <a:gd name="csY27" fmla="*/ 235744 h 404812"/>
                <a:gd name="csX28" fmla="*/ 300714 w 377789"/>
                <a:gd name="csY28" fmla="*/ 223837 h 404812"/>
                <a:gd name="csX29" fmla="*/ 310239 w 377789"/>
                <a:gd name="csY29" fmla="*/ 209550 h 404812"/>
                <a:gd name="csX30" fmla="*/ 324526 w 377789"/>
                <a:gd name="csY30" fmla="*/ 188119 h 404812"/>
                <a:gd name="csX31" fmla="*/ 331670 w 377789"/>
                <a:gd name="csY31" fmla="*/ 178594 h 404812"/>
                <a:gd name="csX32" fmla="*/ 336432 w 377789"/>
                <a:gd name="csY32" fmla="*/ 169069 h 404812"/>
                <a:gd name="csX33" fmla="*/ 345957 w 377789"/>
                <a:gd name="csY33" fmla="*/ 157162 h 404812"/>
                <a:gd name="csX34" fmla="*/ 350720 w 377789"/>
                <a:gd name="csY34" fmla="*/ 147637 h 404812"/>
                <a:gd name="csX35" fmla="*/ 355482 w 377789"/>
                <a:gd name="csY35" fmla="*/ 140494 h 404812"/>
                <a:gd name="csX36" fmla="*/ 357864 w 377789"/>
                <a:gd name="csY36" fmla="*/ 130969 h 404812"/>
                <a:gd name="csX37" fmla="*/ 372151 w 377789"/>
                <a:gd name="csY37" fmla="*/ 121444 h 404812"/>
                <a:gd name="csX38" fmla="*/ 374532 w 377789"/>
                <a:gd name="csY38" fmla="*/ 102394 h 404812"/>
                <a:gd name="csX39" fmla="*/ 367389 w 377789"/>
                <a:gd name="csY39" fmla="*/ 100012 h 404812"/>
                <a:gd name="csX40" fmla="*/ 353101 w 377789"/>
                <a:gd name="csY40" fmla="*/ 88106 h 404812"/>
                <a:gd name="csX41" fmla="*/ 336432 w 377789"/>
                <a:gd name="csY41" fmla="*/ 73819 h 404812"/>
                <a:gd name="csX42" fmla="*/ 331670 w 377789"/>
                <a:gd name="csY42" fmla="*/ 66675 h 404812"/>
                <a:gd name="csX43" fmla="*/ 322145 w 377789"/>
                <a:gd name="csY43" fmla="*/ 59531 h 404812"/>
                <a:gd name="csX44" fmla="*/ 319764 w 377789"/>
                <a:gd name="csY44" fmla="*/ 50006 h 404812"/>
                <a:gd name="csX45" fmla="*/ 312620 w 377789"/>
                <a:gd name="csY45" fmla="*/ 40481 h 404812"/>
                <a:gd name="csX46" fmla="*/ 310239 w 377789"/>
                <a:gd name="csY46" fmla="*/ 33337 h 404812"/>
                <a:gd name="csX47" fmla="*/ 303095 w 377789"/>
                <a:gd name="csY47" fmla="*/ 23812 h 404812"/>
                <a:gd name="csX48" fmla="*/ 288807 w 377789"/>
                <a:gd name="csY48" fmla="*/ 0 h 404812"/>
                <a:gd name="csX49" fmla="*/ 264995 w 377789"/>
                <a:gd name="csY49" fmla="*/ 30956 h 404812"/>
                <a:gd name="csX50" fmla="*/ 253089 w 377789"/>
                <a:gd name="csY50" fmla="*/ 45244 h 404812"/>
                <a:gd name="csX51" fmla="*/ 245945 w 377789"/>
                <a:gd name="csY51" fmla="*/ 52387 h 404812"/>
                <a:gd name="csX52" fmla="*/ 224514 w 377789"/>
                <a:gd name="csY52" fmla="*/ 71437 h 404812"/>
                <a:gd name="csX53" fmla="*/ 191176 w 377789"/>
                <a:gd name="csY53" fmla="*/ 114300 h 404812"/>
                <a:gd name="csX54" fmla="*/ 181651 w 377789"/>
                <a:gd name="csY54" fmla="*/ 121444 h 404812"/>
                <a:gd name="csX55" fmla="*/ 164982 w 377789"/>
                <a:gd name="csY55" fmla="*/ 145256 h 404812"/>
                <a:gd name="csX56" fmla="*/ 157839 w 377789"/>
                <a:gd name="csY56" fmla="*/ 152400 h 404812"/>
                <a:gd name="csX57" fmla="*/ 145932 w 377789"/>
                <a:gd name="csY57" fmla="*/ 166687 h 404812"/>
                <a:gd name="csX58" fmla="*/ 134026 w 377789"/>
                <a:gd name="csY58" fmla="*/ 176212 h 404812"/>
                <a:gd name="csX59" fmla="*/ 124501 w 377789"/>
                <a:gd name="csY59" fmla="*/ 188119 h 404812"/>
                <a:gd name="csX60" fmla="*/ 114976 w 377789"/>
                <a:gd name="csY60" fmla="*/ 197644 h 404812"/>
                <a:gd name="csX61" fmla="*/ 95926 w 377789"/>
                <a:gd name="csY61" fmla="*/ 211931 h 404812"/>
                <a:gd name="csX62" fmla="*/ 81639 w 377789"/>
                <a:gd name="csY62" fmla="*/ 226219 h 404812"/>
                <a:gd name="csX63" fmla="*/ 72114 w 377789"/>
                <a:gd name="csY63" fmla="*/ 235744 h 404812"/>
                <a:gd name="csX64" fmla="*/ 57826 w 377789"/>
                <a:gd name="csY64" fmla="*/ 245269 h 404812"/>
                <a:gd name="csX65" fmla="*/ 50682 w 377789"/>
                <a:gd name="csY65" fmla="*/ 250031 h 404812"/>
                <a:gd name="csX66" fmla="*/ 34014 w 377789"/>
                <a:gd name="csY66" fmla="*/ 259556 h 404812"/>
                <a:gd name="csX67" fmla="*/ 676 w 377789"/>
                <a:gd name="csY67" fmla="*/ 273844 h 4048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</a:cxnLst>
              <a:rect l="l" t="t" r="r" b="b"/>
              <a:pathLst>
                <a:path w="377789" h="404812">
                  <a:moveTo>
                    <a:pt x="676" y="273844"/>
                  </a:moveTo>
                  <a:cubicBezTo>
                    <a:pt x="-2896" y="277416"/>
                    <a:pt x="8657" y="278534"/>
                    <a:pt x="12582" y="280987"/>
                  </a:cubicBezTo>
                  <a:cubicBezTo>
                    <a:pt x="15009" y="282504"/>
                    <a:pt x="17241" y="284330"/>
                    <a:pt x="19726" y="285750"/>
                  </a:cubicBezTo>
                  <a:cubicBezTo>
                    <a:pt x="22808" y="287511"/>
                    <a:pt x="26241" y="288631"/>
                    <a:pt x="29251" y="290512"/>
                  </a:cubicBezTo>
                  <a:cubicBezTo>
                    <a:pt x="32617" y="292615"/>
                    <a:pt x="35547" y="295349"/>
                    <a:pt x="38776" y="297656"/>
                  </a:cubicBezTo>
                  <a:cubicBezTo>
                    <a:pt x="41105" y="299320"/>
                    <a:pt x="43721" y="300587"/>
                    <a:pt x="45920" y="302419"/>
                  </a:cubicBezTo>
                  <a:cubicBezTo>
                    <a:pt x="48507" y="304575"/>
                    <a:pt x="50477" y="307406"/>
                    <a:pt x="53064" y="309562"/>
                  </a:cubicBezTo>
                  <a:cubicBezTo>
                    <a:pt x="59517" y="314940"/>
                    <a:pt x="65097" y="316011"/>
                    <a:pt x="72114" y="321469"/>
                  </a:cubicBezTo>
                  <a:cubicBezTo>
                    <a:pt x="93776" y="338317"/>
                    <a:pt x="70012" y="325181"/>
                    <a:pt x="91164" y="335756"/>
                  </a:cubicBezTo>
                  <a:cubicBezTo>
                    <a:pt x="111863" y="356458"/>
                    <a:pt x="79264" y="323424"/>
                    <a:pt x="110214" y="357187"/>
                  </a:cubicBezTo>
                  <a:cubicBezTo>
                    <a:pt x="114765" y="362152"/>
                    <a:pt x="124501" y="371475"/>
                    <a:pt x="124501" y="371475"/>
                  </a:cubicBezTo>
                  <a:cubicBezTo>
                    <a:pt x="125295" y="373856"/>
                    <a:pt x="125314" y="376659"/>
                    <a:pt x="126882" y="378619"/>
                  </a:cubicBezTo>
                  <a:cubicBezTo>
                    <a:pt x="128670" y="380854"/>
                    <a:pt x="132509" y="380954"/>
                    <a:pt x="134026" y="383381"/>
                  </a:cubicBezTo>
                  <a:cubicBezTo>
                    <a:pt x="136687" y="387638"/>
                    <a:pt x="137201" y="392906"/>
                    <a:pt x="138789" y="397669"/>
                  </a:cubicBezTo>
                  <a:lnTo>
                    <a:pt x="141170" y="404812"/>
                  </a:lnTo>
                  <a:cubicBezTo>
                    <a:pt x="143551" y="403225"/>
                    <a:pt x="146482" y="402249"/>
                    <a:pt x="148314" y="400050"/>
                  </a:cubicBezTo>
                  <a:cubicBezTo>
                    <a:pt x="150586" y="397323"/>
                    <a:pt x="151315" y="393607"/>
                    <a:pt x="153076" y="390525"/>
                  </a:cubicBezTo>
                  <a:cubicBezTo>
                    <a:pt x="154496" y="388040"/>
                    <a:pt x="156122" y="385671"/>
                    <a:pt x="157839" y="383381"/>
                  </a:cubicBezTo>
                  <a:cubicBezTo>
                    <a:pt x="160889" y="379315"/>
                    <a:pt x="164359" y="375574"/>
                    <a:pt x="167364" y="371475"/>
                  </a:cubicBezTo>
                  <a:cubicBezTo>
                    <a:pt x="173094" y="363662"/>
                    <a:pt x="178517" y="355628"/>
                    <a:pt x="184032" y="347662"/>
                  </a:cubicBezTo>
                  <a:cubicBezTo>
                    <a:pt x="185661" y="345309"/>
                    <a:pt x="187078" y="342808"/>
                    <a:pt x="188795" y="340519"/>
                  </a:cubicBezTo>
                  <a:cubicBezTo>
                    <a:pt x="202003" y="322909"/>
                    <a:pt x="188980" y="338620"/>
                    <a:pt x="207845" y="321469"/>
                  </a:cubicBezTo>
                  <a:cubicBezTo>
                    <a:pt x="212829" y="316938"/>
                    <a:pt x="217370" y="311944"/>
                    <a:pt x="222132" y="307181"/>
                  </a:cubicBezTo>
                  <a:cubicBezTo>
                    <a:pt x="225307" y="304006"/>
                    <a:pt x="228852" y="301162"/>
                    <a:pt x="231657" y="297656"/>
                  </a:cubicBezTo>
                  <a:lnTo>
                    <a:pt x="241182" y="285750"/>
                  </a:lnTo>
                  <a:cubicBezTo>
                    <a:pt x="248178" y="264763"/>
                    <a:pt x="242175" y="277283"/>
                    <a:pt x="255470" y="259556"/>
                  </a:cubicBezTo>
                  <a:cubicBezTo>
                    <a:pt x="257187" y="257266"/>
                    <a:pt x="258033" y="254244"/>
                    <a:pt x="260232" y="252412"/>
                  </a:cubicBezTo>
                  <a:cubicBezTo>
                    <a:pt x="267675" y="246209"/>
                    <a:pt x="276079" y="241259"/>
                    <a:pt x="284045" y="235744"/>
                  </a:cubicBezTo>
                  <a:cubicBezTo>
                    <a:pt x="287725" y="233196"/>
                    <a:pt x="298281" y="226574"/>
                    <a:pt x="300714" y="223837"/>
                  </a:cubicBezTo>
                  <a:cubicBezTo>
                    <a:pt x="304517" y="219559"/>
                    <a:pt x="306663" y="214019"/>
                    <a:pt x="310239" y="209550"/>
                  </a:cubicBezTo>
                  <a:cubicBezTo>
                    <a:pt x="333496" y="180480"/>
                    <a:pt x="309449" y="212242"/>
                    <a:pt x="324526" y="188119"/>
                  </a:cubicBezTo>
                  <a:cubicBezTo>
                    <a:pt x="326629" y="184753"/>
                    <a:pt x="329567" y="181960"/>
                    <a:pt x="331670" y="178594"/>
                  </a:cubicBezTo>
                  <a:cubicBezTo>
                    <a:pt x="333551" y="175584"/>
                    <a:pt x="334463" y="172023"/>
                    <a:pt x="336432" y="169069"/>
                  </a:cubicBezTo>
                  <a:cubicBezTo>
                    <a:pt x="339251" y="164840"/>
                    <a:pt x="343138" y="161391"/>
                    <a:pt x="345957" y="157162"/>
                  </a:cubicBezTo>
                  <a:cubicBezTo>
                    <a:pt x="347926" y="154208"/>
                    <a:pt x="348959" y="150719"/>
                    <a:pt x="350720" y="147637"/>
                  </a:cubicBezTo>
                  <a:cubicBezTo>
                    <a:pt x="352140" y="145152"/>
                    <a:pt x="353895" y="142875"/>
                    <a:pt x="355482" y="140494"/>
                  </a:cubicBezTo>
                  <a:cubicBezTo>
                    <a:pt x="356276" y="137319"/>
                    <a:pt x="355709" y="133432"/>
                    <a:pt x="357864" y="130969"/>
                  </a:cubicBezTo>
                  <a:cubicBezTo>
                    <a:pt x="361633" y="126662"/>
                    <a:pt x="372151" y="121444"/>
                    <a:pt x="372151" y="121444"/>
                  </a:cubicBezTo>
                  <a:cubicBezTo>
                    <a:pt x="376732" y="114573"/>
                    <a:pt x="380908" y="111958"/>
                    <a:pt x="374532" y="102394"/>
                  </a:cubicBezTo>
                  <a:cubicBezTo>
                    <a:pt x="373140" y="100306"/>
                    <a:pt x="369770" y="100806"/>
                    <a:pt x="367389" y="100012"/>
                  </a:cubicBezTo>
                  <a:cubicBezTo>
                    <a:pt x="342603" y="75230"/>
                    <a:pt x="376321" y="108009"/>
                    <a:pt x="353101" y="88106"/>
                  </a:cubicBezTo>
                  <a:cubicBezTo>
                    <a:pt x="332897" y="70788"/>
                    <a:pt x="352829" y="84749"/>
                    <a:pt x="336432" y="73819"/>
                  </a:cubicBezTo>
                  <a:cubicBezTo>
                    <a:pt x="334845" y="71438"/>
                    <a:pt x="333694" y="68699"/>
                    <a:pt x="331670" y="66675"/>
                  </a:cubicBezTo>
                  <a:cubicBezTo>
                    <a:pt x="328864" y="63869"/>
                    <a:pt x="324452" y="62761"/>
                    <a:pt x="322145" y="59531"/>
                  </a:cubicBezTo>
                  <a:cubicBezTo>
                    <a:pt x="320243" y="56868"/>
                    <a:pt x="321228" y="52933"/>
                    <a:pt x="319764" y="50006"/>
                  </a:cubicBezTo>
                  <a:cubicBezTo>
                    <a:pt x="317989" y="46456"/>
                    <a:pt x="315001" y="43656"/>
                    <a:pt x="312620" y="40481"/>
                  </a:cubicBezTo>
                  <a:cubicBezTo>
                    <a:pt x="311826" y="38100"/>
                    <a:pt x="311484" y="35516"/>
                    <a:pt x="310239" y="33337"/>
                  </a:cubicBezTo>
                  <a:cubicBezTo>
                    <a:pt x="308270" y="29891"/>
                    <a:pt x="304622" y="27475"/>
                    <a:pt x="303095" y="23812"/>
                  </a:cubicBezTo>
                  <a:cubicBezTo>
                    <a:pt x="292736" y="-1049"/>
                    <a:pt x="306755" y="8973"/>
                    <a:pt x="288807" y="0"/>
                  </a:cubicBezTo>
                  <a:cubicBezTo>
                    <a:pt x="278825" y="14975"/>
                    <a:pt x="284348" y="7136"/>
                    <a:pt x="264995" y="30956"/>
                  </a:cubicBezTo>
                  <a:cubicBezTo>
                    <a:pt x="261086" y="35768"/>
                    <a:pt x="257473" y="40861"/>
                    <a:pt x="253089" y="45244"/>
                  </a:cubicBezTo>
                  <a:cubicBezTo>
                    <a:pt x="250708" y="47625"/>
                    <a:pt x="248462" y="50150"/>
                    <a:pt x="245945" y="52387"/>
                  </a:cubicBezTo>
                  <a:cubicBezTo>
                    <a:pt x="242880" y="55111"/>
                    <a:pt x="228540" y="66068"/>
                    <a:pt x="224514" y="71437"/>
                  </a:cubicBezTo>
                  <a:cubicBezTo>
                    <a:pt x="209756" y="91115"/>
                    <a:pt x="222285" y="90967"/>
                    <a:pt x="191176" y="114300"/>
                  </a:cubicBezTo>
                  <a:cubicBezTo>
                    <a:pt x="188001" y="116681"/>
                    <a:pt x="184457" y="118638"/>
                    <a:pt x="181651" y="121444"/>
                  </a:cubicBezTo>
                  <a:cubicBezTo>
                    <a:pt x="177316" y="125779"/>
                    <a:pt x="167705" y="141755"/>
                    <a:pt x="164982" y="145256"/>
                  </a:cubicBezTo>
                  <a:cubicBezTo>
                    <a:pt x="162915" y="147914"/>
                    <a:pt x="160076" y="149883"/>
                    <a:pt x="157839" y="152400"/>
                  </a:cubicBezTo>
                  <a:cubicBezTo>
                    <a:pt x="153720" y="157033"/>
                    <a:pt x="150316" y="162303"/>
                    <a:pt x="145932" y="166687"/>
                  </a:cubicBezTo>
                  <a:cubicBezTo>
                    <a:pt x="142338" y="170281"/>
                    <a:pt x="137620" y="172618"/>
                    <a:pt x="134026" y="176212"/>
                  </a:cubicBezTo>
                  <a:cubicBezTo>
                    <a:pt x="130432" y="179806"/>
                    <a:pt x="127878" y="184320"/>
                    <a:pt x="124501" y="188119"/>
                  </a:cubicBezTo>
                  <a:cubicBezTo>
                    <a:pt x="121518" y="191475"/>
                    <a:pt x="118425" y="194770"/>
                    <a:pt x="114976" y="197644"/>
                  </a:cubicBezTo>
                  <a:cubicBezTo>
                    <a:pt x="108878" y="202725"/>
                    <a:pt x="95926" y="211931"/>
                    <a:pt x="95926" y="211931"/>
                  </a:cubicBezTo>
                  <a:cubicBezTo>
                    <a:pt x="87260" y="224932"/>
                    <a:pt x="95815" y="213814"/>
                    <a:pt x="81639" y="226219"/>
                  </a:cubicBezTo>
                  <a:cubicBezTo>
                    <a:pt x="78260" y="229176"/>
                    <a:pt x="75620" y="232939"/>
                    <a:pt x="72114" y="235744"/>
                  </a:cubicBezTo>
                  <a:cubicBezTo>
                    <a:pt x="67644" y="239320"/>
                    <a:pt x="62589" y="242094"/>
                    <a:pt x="57826" y="245269"/>
                  </a:cubicBezTo>
                  <a:cubicBezTo>
                    <a:pt x="55445" y="246856"/>
                    <a:pt x="53242" y="248751"/>
                    <a:pt x="50682" y="250031"/>
                  </a:cubicBezTo>
                  <a:cubicBezTo>
                    <a:pt x="21896" y="264426"/>
                    <a:pt x="57574" y="246092"/>
                    <a:pt x="34014" y="259556"/>
                  </a:cubicBezTo>
                  <a:cubicBezTo>
                    <a:pt x="21729" y="266576"/>
                    <a:pt x="4248" y="270272"/>
                    <a:pt x="676" y="273844"/>
                  </a:cubicBezTo>
                  <a:close/>
                </a:path>
              </a:pathLst>
            </a:custGeom>
            <a:solidFill>
              <a:srgbClr val="FF505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7336682-0998-70FA-27D9-14BAA00CF2F4}"/>
                </a:ext>
              </a:extLst>
            </p:cNvPr>
            <p:cNvSpPr txBox="1"/>
            <p:nvPr/>
          </p:nvSpPr>
          <p:spPr>
            <a:xfrm>
              <a:off x="3214091" y="-102590"/>
              <a:ext cx="237374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Contact without fuse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2C3E8AE-28D2-FEE2-5ADD-F487D9C26E31}"/>
                </a:ext>
              </a:extLst>
            </p:cNvPr>
            <p:cNvSpPr txBox="1"/>
            <p:nvPr/>
          </p:nvSpPr>
          <p:spPr>
            <a:xfrm>
              <a:off x="3323545" y="2768909"/>
              <a:ext cx="237374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Contact with fuse</a:t>
              </a:r>
            </a:p>
          </p:txBody>
        </p:sp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DEE27C69-E5A8-ABCB-388F-C3C6A9EF70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7740" t="34997" r="19075" b="36200"/>
            <a:stretch>
              <a:fillRect/>
            </a:stretch>
          </p:blipFill>
          <p:spPr>
            <a:xfrm rot="16200000">
              <a:off x="3052483" y="4919213"/>
              <a:ext cx="239765" cy="561809"/>
            </a:xfrm>
            <a:prstGeom prst="rect">
              <a:avLst/>
            </a:prstGeom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6AB771D1-4DAE-5996-2917-6A1878BE1ED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9710" t="6581" r="17908" b="9910"/>
            <a:stretch>
              <a:fillRect/>
            </a:stretch>
          </p:blipFill>
          <p:spPr>
            <a:xfrm>
              <a:off x="1556111" y="7417087"/>
              <a:ext cx="1373352" cy="1371600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A3D5C42F-6F6A-8B0C-092B-E1FD534D24A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9710" t="6581" r="17908" b="9910"/>
            <a:stretch>
              <a:fillRect/>
            </a:stretch>
          </p:blipFill>
          <p:spPr>
            <a:xfrm rot="16200000" flipH="1" flipV="1">
              <a:off x="2428389" y="7510558"/>
              <a:ext cx="1375106" cy="1373352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BD03028-1235-2137-31E2-1248EF5F478B}"/>
                </a:ext>
              </a:extLst>
            </p:cNvPr>
            <p:cNvSpPr txBox="1"/>
            <p:nvPr/>
          </p:nvSpPr>
          <p:spPr>
            <a:xfrm>
              <a:off x="3919816" y="6743904"/>
              <a:ext cx="237374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stack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23E6FD4-E5A6-48EB-6A13-DA7AE1E61C35}"/>
                </a:ext>
              </a:extLst>
            </p:cNvPr>
            <p:cNvSpPr txBox="1"/>
            <p:nvPr/>
          </p:nvSpPr>
          <p:spPr>
            <a:xfrm rot="5400000">
              <a:off x="-261059" y="1605955"/>
              <a:ext cx="180688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Edge to edge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C5AA470-1A72-4148-A5AB-1864D31833C0}"/>
                </a:ext>
              </a:extLst>
            </p:cNvPr>
            <p:cNvSpPr txBox="1"/>
            <p:nvPr/>
          </p:nvSpPr>
          <p:spPr>
            <a:xfrm>
              <a:off x="4725409" y="339694"/>
              <a:ext cx="237374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Example TEM image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D78FF8-01DC-81BF-3757-F461A27BE7AB}"/>
                </a:ext>
              </a:extLst>
            </p:cNvPr>
            <p:cNvSpPr txBox="1"/>
            <p:nvPr/>
          </p:nvSpPr>
          <p:spPr>
            <a:xfrm>
              <a:off x="1428872" y="437236"/>
              <a:ext cx="237374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Model</a:t>
              </a:r>
            </a:p>
          </p:txBody>
        </p:sp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D5A7B84C-2870-AC65-112E-64EF17CA51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76963" y="887176"/>
              <a:ext cx="2786963" cy="1807760"/>
            </a:xfrm>
            <a:prstGeom prst="rect">
              <a:avLst/>
            </a:prstGeom>
          </p:spPr>
        </p:pic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8E4495DB-E1D6-140D-61F4-2EDE9F8360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77773" y="1580329"/>
              <a:ext cx="1726113" cy="18674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A611169-32D8-09DF-9866-5385B693E57E}"/>
                </a:ext>
              </a:extLst>
            </p:cNvPr>
            <p:cNvSpPr txBox="1"/>
            <p:nvPr/>
          </p:nvSpPr>
          <p:spPr>
            <a:xfrm>
              <a:off x="7503886" y="1319583"/>
              <a:ext cx="17811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Line at interface</a:t>
              </a:r>
            </a:p>
          </p:txBody>
        </p:sp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F36BCF48-BCA6-E0C4-95DF-5893FA6F119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5400000">
              <a:off x="4843880" y="6873759"/>
              <a:ext cx="2226171" cy="2786963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C208954D-02E8-F293-DEAE-7B3E8C3886C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5400000" flipV="1">
              <a:off x="4291939" y="3488312"/>
              <a:ext cx="3330056" cy="2786964"/>
            </a:xfrm>
            <a:prstGeom prst="rect">
              <a:avLst/>
            </a:prstGeom>
          </p:spPr>
        </p:pic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387668FD-3D77-907E-AE48-C26380D030B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06771" y="4296450"/>
              <a:ext cx="895903" cy="62252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99E9C2EE-06E6-E902-AB51-2403FC03D70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36837" y="5294210"/>
              <a:ext cx="1791096" cy="107446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51B6EF63-8108-7C61-D305-47D5EB169F8E}"/>
                </a:ext>
              </a:extLst>
            </p:cNvPr>
            <p:cNvSpPr txBox="1"/>
            <p:nvPr/>
          </p:nvSpPr>
          <p:spPr>
            <a:xfrm>
              <a:off x="7802674" y="4144290"/>
              <a:ext cx="17811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Fused at edge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B5AD6915-62EA-98EC-5EA5-FAA3FA398BF3}"/>
                </a:ext>
              </a:extLst>
            </p:cNvPr>
            <p:cNvSpPr txBox="1"/>
            <p:nvPr/>
          </p:nvSpPr>
          <p:spPr>
            <a:xfrm>
              <a:off x="7727933" y="6172965"/>
              <a:ext cx="17811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Fused at corner</a:t>
              </a:r>
            </a:p>
          </p:txBody>
        </p:sp>
        <p:pic>
          <p:nvPicPr>
            <p:cNvPr id="93" name="Picture 92">
              <a:extLst>
                <a:ext uri="{FF2B5EF4-FFF2-40B4-BE49-F238E27FC236}">
                  <a16:creationId xmlns:a16="http://schemas.microsoft.com/office/drawing/2014/main" id="{79B55B2D-8913-126B-93B9-71ABA2ED60A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7740" t="34997" r="19075" b="36200"/>
            <a:stretch>
              <a:fillRect/>
            </a:stretch>
          </p:blipFill>
          <p:spPr>
            <a:xfrm rot="16517876">
              <a:off x="2871376" y="4881139"/>
              <a:ext cx="207554" cy="544971"/>
            </a:xfrm>
            <a:prstGeom prst="rect">
              <a:avLst/>
            </a:prstGeom>
          </p:spPr>
        </p:pic>
        <p:pic>
          <p:nvPicPr>
            <p:cNvPr id="95" name="Picture 94">
              <a:extLst>
                <a:ext uri="{FF2B5EF4-FFF2-40B4-BE49-F238E27FC236}">
                  <a16:creationId xmlns:a16="http://schemas.microsoft.com/office/drawing/2014/main" id="{AF726B4A-F6B5-8718-5A13-8399EBB5D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7740" t="34997" r="19075" b="36200"/>
            <a:stretch>
              <a:fillRect/>
            </a:stretch>
          </p:blipFill>
          <p:spPr>
            <a:xfrm rot="16517876">
              <a:off x="2973906" y="4941167"/>
              <a:ext cx="151241" cy="555760"/>
            </a:xfrm>
            <a:prstGeom prst="rect">
              <a:avLst/>
            </a:prstGeom>
          </p:spPr>
        </p:pic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21ED9266-783D-D019-718D-7F76CCB481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7740" t="34997" r="19075" b="36200"/>
            <a:stretch>
              <a:fillRect/>
            </a:stretch>
          </p:blipFill>
          <p:spPr>
            <a:xfrm rot="16200000">
              <a:off x="2918588" y="4932737"/>
              <a:ext cx="151241" cy="589844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827F5470-5E7D-685A-8CC7-2719E4BE64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8488" t="74749" r="20309" b="22471"/>
            <a:stretch>
              <a:fillRect/>
            </a:stretch>
          </p:blipFill>
          <p:spPr>
            <a:xfrm rot="19159054" flipH="1" flipV="1">
              <a:off x="2625835" y="4985275"/>
              <a:ext cx="222928" cy="139961"/>
            </a:xfrm>
            <a:prstGeom prst="rect">
              <a:avLst/>
            </a:prstGeom>
          </p:spPr>
        </p:pic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31E145E6-9365-AF7E-5090-64EAF5194DE2}"/>
                </a:ext>
              </a:extLst>
            </p:cNvPr>
            <p:cNvSpPr txBox="1"/>
            <p:nvPr/>
          </p:nvSpPr>
          <p:spPr>
            <a:xfrm>
              <a:off x="9818254" y="339694"/>
              <a:ext cx="289626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Segmentation strategy</a:t>
              </a:r>
            </a:p>
          </p:txBody>
        </p:sp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BE69307C-2890-A348-095E-21C29A158F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05037" y="905950"/>
              <a:ext cx="2786963" cy="1807760"/>
            </a:xfrm>
            <a:prstGeom prst="rect">
              <a:avLst/>
            </a:prstGeom>
          </p:spPr>
        </p:pic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7E5DAF07-0F42-4DDC-D533-DA7133DF437A}"/>
                </a:ext>
              </a:extLst>
            </p:cNvPr>
            <p:cNvCxnSpPr/>
            <p:nvPr/>
          </p:nvCxnSpPr>
          <p:spPr>
            <a:xfrm flipH="1">
              <a:off x="10726167" y="1504249"/>
              <a:ext cx="167951" cy="761880"/>
            </a:xfrm>
            <a:prstGeom prst="line">
              <a:avLst/>
            </a:prstGeom>
            <a:ln>
              <a:solidFill>
                <a:srgbClr val="FFFF00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12" name="Picture 111">
              <a:extLst>
                <a:ext uri="{FF2B5EF4-FFF2-40B4-BE49-F238E27FC236}">
                  <a16:creationId xmlns:a16="http://schemas.microsoft.com/office/drawing/2014/main" id="{AFAA55C7-4AC3-742C-1511-711C5139FD7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5400000" flipV="1">
              <a:off x="9061139" y="3488312"/>
              <a:ext cx="3330056" cy="2786964"/>
            </a:xfrm>
            <a:prstGeom prst="rect">
              <a:avLst/>
            </a:prstGeom>
          </p:spPr>
        </p:pic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4427F92D-8EB1-A016-69B2-DEF4B09D0FA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894118" y="4881794"/>
              <a:ext cx="722494" cy="47733"/>
            </a:xfrm>
            <a:prstGeom prst="line">
              <a:avLst/>
            </a:prstGeom>
            <a:ln>
              <a:solidFill>
                <a:srgbClr val="FFFF00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34FA25F0-05A8-C3B2-C9BB-031B39BCD3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391081" y="4929527"/>
              <a:ext cx="407437" cy="424224"/>
            </a:xfrm>
            <a:prstGeom prst="line">
              <a:avLst/>
            </a:prstGeom>
            <a:ln>
              <a:solidFill>
                <a:srgbClr val="FFFF00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FA04D703-88D8-DF3C-41BA-81445A95D70D}"/>
                </a:ext>
              </a:extLst>
            </p:cNvPr>
            <p:cNvSpPr txBox="1"/>
            <p:nvPr/>
          </p:nvSpPr>
          <p:spPr>
            <a:xfrm>
              <a:off x="12215250" y="4512462"/>
              <a:ext cx="2093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Based on contrast</a:t>
              </a: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A4875FBB-120A-24A6-3F9C-4BD7A15FE18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5400000">
              <a:off x="9522803" y="6873759"/>
              <a:ext cx="2226171" cy="2786963"/>
            </a:xfrm>
            <a:prstGeom prst="rect">
              <a:avLst/>
            </a:prstGeom>
          </p:spPr>
        </p:pic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1AF63826-A245-9665-E60A-599F5E1D29E6}"/>
                </a:ext>
              </a:extLst>
            </p:cNvPr>
            <p:cNvSpPr/>
            <p:nvPr/>
          </p:nvSpPr>
          <p:spPr>
            <a:xfrm>
              <a:off x="10353675" y="7655719"/>
              <a:ext cx="350044" cy="1257300"/>
            </a:xfrm>
            <a:custGeom>
              <a:avLst/>
              <a:gdLst>
                <a:gd name="csX0" fmla="*/ 350044 w 350044"/>
                <a:gd name="csY0" fmla="*/ 0 h 1257300"/>
                <a:gd name="csX1" fmla="*/ 326231 w 350044"/>
                <a:gd name="csY1" fmla="*/ 14287 h 1257300"/>
                <a:gd name="csX2" fmla="*/ 314325 w 350044"/>
                <a:gd name="csY2" fmla="*/ 21431 h 1257300"/>
                <a:gd name="csX3" fmla="*/ 292894 w 350044"/>
                <a:gd name="csY3" fmla="*/ 40481 h 1257300"/>
                <a:gd name="csX4" fmla="*/ 288131 w 350044"/>
                <a:gd name="csY4" fmla="*/ 47625 h 1257300"/>
                <a:gd name="csX5" fmla="*/ 266700 w 350044"/>
                <a:gd name="csY5" fmla="*/ 61912 h 1257300"/>
                <a:gd name="csX6" fmla="*/ 257175 w 350044"/>
                <a:gd name="csY6" fmla="*/ 69056 h 1257300"/>
                <a:gd name="csX7" fmla="*/ 245269 w 350044"/>
                <a:gd name="csY7" fmla="*/ 88106 h 1257300"/>
                <a:gd name="csX8" fmla="*/ 238125 w 350044"/>
                <a:gd name="csY8" fmla="*/ 100012 h 1257300"/>
                <a:gd name="csX9" fmla="*/ 223838 w 350044"/>
                <a:gd name="csY9" fmla="*/ 119062 h 1257300"/>
                <a:gd name="csX10" fmla="*/ 214313 w 350044"/>
                <a:gd name="csY10" fmla="*/ 130969 h 1257300"/>
                <a:gd name="csX11" fmla="*/ 204788 w 350044"/>
                <a:gd name="csY11" fmla="*/ 145256 h 1257300"/>
                <a:gd name="csX12" fmla="*/ 190500 w 350044"/>
                <a:gd name="csY12" fmla="*/ 171450 h 1257300"/>
                <a:gd name="csX13" fmla="*/ 180975 w 350044"/>
                <a:gd name="csY13" fmla="*/ 195262 h 1257300"/>
                <a:gd name="csX14" fmla="*/ 178594 w 350044"/>
                <a:gd name="csY14" fmla="*/ 204787 h 1257300"/>
                <a:gd name="csX15" fmla="*/ 169069 w 350044"/>
                <a:gd name="csY15" fmla="*/ 219075 h 1257300"/>
                <a:gd name="csX16" fmla="*/ 161925 w 350044"/>
                <a:gd name="csY16" fmla="*/ 230981 h 1257300"/>
                <a:gd name="csX17" fmla="*/ 159544 w 350044"/>
                <a:gd name="csY17" fmla="*/ 240506 h 1257300"/>
                <a:gd name="csX18" fmla="*/ 147638 w 350044"/>
                <a:gd name="csY18" fmla="*/ 261937 h 1257300"/>
                <a:gd name="csX19" fmla="*/ 140494 w 350044"/>
                <a:gd name="csY19" fmla="*/ 295275 h 1257300"/>
                <a:gd name="csX20" fmla="*/ 109538 w 350044"/>
                <a:gd name="csY20" fmla="*/ 354806 h 1257300"/>
                <a:gd name="csX21" fmla="*/ 97631 w 350044"/>
                <a:gd name="csY21" fmla="*/ 416719 h 1257300"/>
                <a:gd name="csX22" fmla="*/ 95250 w 350044"/>
                <a:gd name="csY22" fmla="*/ 440531 h 1257300"/>
                <a:gd name="csX23" fmla="*/ 76200 w 350044"/>
                <a:gd name="csY23" fmla="*/ 504825 h 1257300"/>
                <a:gd name="csX24" fmla="*/ 66675 w 350044"/>
                <a:gd name="csY24" fmla="*/ 545306 h 1257300"/>
                <a:gd name="csX25" fmla="*/ 61913 w 350044"/>
                <a:gd name="csY25" fmla="*/ 583406 h 1257300"/>
                <a:gd name="csX26" fmla="*/ 52388 w 350044"/>
                <a:gd name="csY26" fmla="*/ 642937 h 1257300"/>
                <a:gd name="csX27" fmla="*/ 40481 w 350044"/>
                <a:gd name="csY27" fmla="*/ 735806 h 1257300"/>
                <a:gd name="csX28" fmla="*/ 38100 w 350044"/>
                <a:gd name="csY28" fmla="*/ 762000 h 1257300"/>
                <a:gd name="csX29" fmla="*/ 33338 w 350044"/>
                <a:gd name="csY29" fmla="*/ 783431 h 1257300"/>
                <a:gd name="csX30" fmla="*/ 28575 w 350044"/>
                <a:gd name="csY30" fmla="*/ 812006 h 1257300"/>
                <a:gd name="csX31" fmla="*/ 19050 w 350044"/>
                <a:gd name="csY31" fmla="*/ 842962 h 1257300"/>
                <a:gd name="csX32" fmla="*/ 9525 w 350044"/>
                <a:gd name="csY32" fmla="*/ 862012 h 1257300"/>
                <a:gd name="csX33" fmla="*/ 4763 w 350044"/>
                <a:gd name="csY33" fmla="*/ 900112 h 1257300"/>
                <a:gd name="csX34" fmla="*/ 2381 w 350044"/>
                <a:gd name="csY34" fmla="*/ 942975 h 1257300"/>
                <a:gd name="csX35" fmla="*/ 0 w 350044"/>
                <a:gd name="csY35" fmla="*/ 981075 h 1257300"/>
                <a:gd name="csX36" fmla="*/ 2381 w 350044"/>
                <a:gd name="csY36" fmla="*/ 1064419 h 1257300"/>
                <a:gd name="csX37" fmla="*/ 7144 w 350044"/>
                <a:gd name="csY37" fmla="*/ 1126331 h 1257300"/>
                <a:gd name="csX38" fmla="*/ 11906 w 350044"/>
                <a:gd name="csY38" fmla="*/ 1147762 h 1257300"/>
                <a:gd name="csX39" fmla="*/ 23813 w 350044"/>
                <a:gd name="csY39" fmla="*/ 1169194 h 1257300"/>
                <a:gd name="csX40" fmla="*/ 30956 w 350044"/>
                <a:gd name="csY40" fmla="*/ 1178719 h 1257300"/>
                <a:gd name="csX41" fmla="*/ 40481 w 350044"/>
                <a:gd name="csY41" fmla="*/ 1200150 h 1257300"/>
                <a:gd name="csX42" fmla="*/ 54769 w 350044"/>
                <a:gd name="csY42" fmla="*/ 1216819 h 1257300"/>
                <a:gd name="csX43" fmla="*/ 64294 w 350044"/>
                <a:gd name="csY43" fmla="*/ 1235869 h 1257300"/>
                <a:gd name="csX44" fmla="*/ 73819 w 350044"/>
                <a:gd name="csY44" fmla="*/ 1254919 h 1257300"/>
                <a:gd name="csX45" fmla="*/ 73819 w 350044"/>
                <a:gd name="csY45" fmla="*/ 1257300 h 12573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</a:cxnLst>
              <a:rect l="l" t="t" r="r" b="b"/>
              <a:pathLst>
                <a:path w="350044" h="1257300">
                  <a:moveTo>
                    <a:pt x="350044" y="0"/>
                  </a:moveTo>
                  <a:lnTo>
                    <a:pt x="326231" y="14287"/>
                  </a:lnTo>
                  <a:cubicBezTo>
                    <a:pt x="322262" y="16668"/>
                    <a:pt x="317598" y="18158"/>
                    <a:pt x="314325" y="21431"/>
                  </a:cubicBezTo>
                  <a:cubicBezTo>
                    <a:pt x="298014" y="37743"/>
                    <a:pt x="305642" y="31983"/>
                    <a:pt x="292894" y="40481"/>
                  </a:cubicBezTo>
                  <a:cubicBezTo>
                    <a:pt x="291306" y="42862"/>
                    <a:pt x="290155" y="45601"/>
                    <a:pt x="288131" y="47625"/>
                  </a:cubicBezTo>
                  <a:cubicBezTo>
                    <a:pt x="274563" y="61193"/>
                    <a:pt x="279996" y="53602"/>
                    <a:pt x="266700" y="61912"/>
                  </a:cubicBezTo>
                  <a:cubicBezTo>
                    <a:pt x="263334" y="64015"/>
                    <a:pt x="260350" y="66675"/>
                    <a:pt x="257175" y="69056"/>
                  </a:cubicBezTo>
                  <a:cubicBezTo>
                    <a:pt x="253206" y="75406"/>
                    <a:pt x="249122" y="81685"/>
                    <a:pt x="245269" y="88106"/>
                  </a:cubicBezTo>
                  <a:cubicBezTo>
                    <a:pt x="242888" y="92075"/>
                    <a:pt x="240759" y="96207"/>
                    <a:pt x="238125" y="100012"/>
                  </a:cubicBezTo>
                  <a:cubicBezTo>
                    <a:pt x="233607" y="106538"/>
                    <a:pt x="228677" y="112771"/>
                    <a:pt x="223838" y="119062"/>
                  </a:cubicBezTo>
                  <a:cubicBezTo>
                    <a:pt x="220739" y="123091"/>
                    <a:pt x="217132" y="126740"/>
                    <a:pt x="214313" y="130969"/>
                  </a:cubicBezTo>
                  <a:cubicBezTo>
                    <a:pt x="211138" y="135731"/>
                    <a:pt x="207788" y="140381"/>
                    <a:pt x="204788" y="145256"/>
                  </a:cubicBezTo>
                  <a:cubicBezTo>
                    <a:pt x="203923" y="146662"/>
                    <a:pt x="192344" y="166378"/>
                    <a:pt x="190500" y="171450"/>
                  </a:cubicBezTo>
                  <a:cubicBezTo>
                    <a:pt x="181622" y="195864"/>
                    <a:pt x="190593" y="180838"/>
                    <a:pt x="180975" y="195262"/>
                  </a:cubicBezTo>
                  <a:cubicBezTo>
                    <a:pt x="180181" y="198437"/>
                    <a:pt x="180058" y="201860"/>
                    <a:pt x="178594" y="204787"/>
                  </a:cubicBezTo>
                  <a:cubicBezTo>
                    <a:pt x="176034" y="209907"/>
                    <a:pt x="172142" y="214246"/>
                    <a:pt x="169069" y="219075"/>
                  </a:cubicBezTo>
                  <a:cubicBezTo>
                    <a:pt x="166584" y="222980"/>
                    <a:pt x="164306" y="227012"/>
                    <a:pt x="161925" y="230981"/>
                  </a:cubicBezTo>
                  <a:cubicBezTo>
                    <a:pt x="161131" y="234156"/>
                    <a:pt x="160693" y="237442"/>
                    <a:pt x="159544" y="240506"/>
                  </a:cubicBezTo>
                  <a:cubicBezTo>
                    <a:pt x="157268" y="246575"/>
                    <a:pt x="150666" y="256890"/>
                    <a:pt x="147638" y="261937"/>
                  </a:cubicBezTo>
                  <a:cubicBezTo>
                    <a:pt x="146254" y="270238"/>
                    <a:pt x="143615" y="288409"/>
                    <a:pt x="140494" y="295275"/>
                  </a:cubicBezTo>
                  <a:cubicBezTo>
                    <a:pt x="123765" y="332079"/>
                    <a:pt x="121435" y="320602"/>
                    <a:pt x="109538" y="354806"/>
                  </a:cubicBezTo>
                  <a:cubicBezTo>
                    <a:pt x="102887" y="373927"/>
                    <a:pt x="100106" y="396922"/>
                    <a:pt x="97631" y="416719"/>
                  </a:cubicBezTo>
                  <a:cubicBezTo>
                    <a:pt x="96642" y="424634"/>
                    <a:pt x="96617" y="432672"/>
                    <a:pt x="95250" y="440531"/>
                  </a:cubicBezTo>
                  <a:cubicBezTo>
                    <a:pt x="88951" y="476749"/>
                    <a:pt x="87769" y="468463"/>
                    <a:pt x="76200" y="504825"/>
                  </a:cubicBezTo>
                  <a:cubicBezTo>
                    <a:pt x="73795" y="512384"/>
                    <a:pt x="68239" y="538271"/>
                    <a:pt x="66675" y="545306"/>
                  </a:cubicBezTo>
                  <a:cubicBezTo>
                    <a:pt x="64679" y="563270"/>
                    <a:pt x="64526" y="566685"/>
                    <a:pt x="61913" y="583406"/>
                  </a:cubicBezTo>
                  <a:cubicBezTo>
                    <a:pt x="58811" y="603261"/>
                    <a:pt x="52388" y="642937"/>
                    <a:pt x="52388" y="642937"/>
                  </a:cubicBezTo>
                  <a:cubicBezTo>
                    <a:pt x="47769" y="753758"/>
                    <a:pt x="56033" y="654934"/>
                    <a:pt x="40481" y="735806"/>
                  </a:cubicBezTo>
                  <a:cubicBezTo>
                    <a:pt x="38825" y="744416"/>
                    <a:pt x="39400" y="753330"/>
                    <a:pt x="38100" y="762000"/>
                  </a:cubicBezTo>
                  <a:cubicBezTo>
                    <a:pt x="37015" y="769237"/>
                    <a:pt x="34707" y="776242"/>
                    <a:pt x="33338" y="783431"/>
                  </a:cubicBezTo>
                  <a:cubicBezTo>
                    <a:pt x="31531" y="792917"/>
                    <a:pt x="30564" y="802557"/>
                    <a:pt x="28575" y="812006"/>
                  </a:cubicBezTo>
                  <a:cubicBezTo>
                    <a:pt x="27701" y="816158"/>
                    <a:pt x="21065" y="838260"/>
                    <a:pt x="19050" y="842962"/>
                  </a:cubicBezTo>
                  <a:cubicBezTo>
                    <a:pt x="16253" y="849487"/>
                    <a:pt x="12700" y="855662"/>
                    <a:pt x="9525" y="862012"/>
                  </a:cubicBezTo>
                  <a:cubicBezTo>
                    <a:pt x="7938" y="874712"/>
                    <a:pt x="5888" y="887363"/>
                    <a:pt x="4763" y="900112"/>
                  </a:cubicBezTo>
                  <a:cubicBezTo>
                    <a:pt x="3505" y="914366"/>
                    <a:pt x="3221" y="928690"/>
                    <a:pt x="2381" y="942975"/>
                  </a:cubicBezTo>
                  <a:cubicBezTo>
                    <a:pt x="1634" y="955678"/>
                    <a:pt x="794" y="968375"/>
                    <a:pt x="0" y="981075"/>
                  </a:cubicBezTo>
                  <a:cubicBezTo>
                    <a:pt x="794" y="1008856"/>
                    <a:pt x="1333" y="1036646"/>
                    <a:pt x="2381" y="1064419"/>
                  </a:cubicBezTo>
                  <a:cubicBezTo>
                    <a:pt x="2960" y="1079754"/>
                    <a:pt x="3954" y="1108250"/>
                    <a:pt x="7144" y="1126331"/>
                  </a:cubicBezTo>
                  <a:cubicBezTo>
                    <a:pt x="8416" y="1133538"/>
                    <a:pt x="9592" y="1140820"/>
                    <a:pt x="11906" y="1147762"/>
                  </a:cubicBezTo>
                  <a:cubicBezTo>
                    <a:pt x="14169" y="1154550"/>
                    <a:pt x="19408" y="1163026"/>
                    <a:pt x="23813" y="1169194"/>
                  </a:cubicBezTo>
                  <a:cubicBezTo>
                    <a:pt x="26120" y="1172423"/>
                    <a:pt x="28853" y="1175354"/>
                    <a:pt x="30956" y="1178719"/>
                  </a:cubicBezTo>
                  <a:cubicBezTo>
                    <a:pt x="41969" y="1196339"/>
                    <a:pt x="29178" y="1179804"/>
                    <a:pt x="40481" y="1200150"/>
                  </a:cubicBezTo>
                  <a:cubicBezTo>
                    <a:pt x="44299" y="1207022"/>
                    <a:pt x="49356" y="1211406"/>
                    <a:pt x="54769" y="1216819"/>
                  </a:cubicBezTo>
                  <a:cubicBezTo>
                    <a:pt x="57944" y="1223169"/>
                    <a:pt x="60641" y="1229781"/>
                    <a:pt x="64294" y="1235869"/>
                  </a:cubicBezTo>
                  <a:cubicBezTo>
                    <a:pt x="69692" y="1244866"/>
                    <a:pt x="71622" y="1246129"/>
                    <a:pt x="73819" y="1254919"/>
                  </a:cubicBezTo>
                  <a:cubicBezTo>
                    <a:pt x="74011" y="1255689"/>
                    <a:pt x="73819" y="1256506"/>
                    <a:pt x="73819" y="1257300"/>
                  </a:cubicBezTo>
                </a:path>
              </a:pathLst>
            </a:custGeom>
            <a:noFill/>
            <a:ln w="9525">
              <a:solidFill>
                <a:srgbClr val="FFFF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FBA63331-2F8C-55AB-DA53-B474210713F0}"/>
                </a:ext>
              </a:extLst>
            </p:cNvPr>
            <p:cNvSpPr/>
            <p:nvPr/>
          </p:nvSpPr>
          <p:spPr>
            <a:xfrm>
              <a:off x="10432256" y="7681913"/>
              <a:ext cx="395288" cy="1228725"/>
            </a:xfrm>
            <a:custGeom>
              <a:avLst/>
              <a:gdLst>
                <a:gd name="csX0" fmla="*/ 283369 w 395288"/>
                <a:gd name="csY0" fmla="*/ 0 h 1228725"/>
                <a:gd name="csX1" fmla="*/ 285750 w 395288"/>
                <a:gd name="csY1" fmla="*/ 14287 h 1228725"/>
                <a:gd name="csX2" fmla="*/ 300038 w 395288"/>
                <a:gd name="csY2" fmla="*/ 30956 h 1228725"/>
                <a:gd name="csX3" fmla="*/ 309563 w 395288"/>
                <a:gd name="csY3" fmla="*/ 54768 h 1228725"/>
                <a:gd name="csX4" fmla="*/ 316707 w 395288"/>
                <a:gd name="csY4" fmla="*/ 71437 h 1228725"/>
                <a:gd name="csX5" fmla="*/ 319088 w 395288"/>
                <a:gd name="csY5" fmla="*/ 83343 h 1228725"/>
                <a:gd name="csX6" fmla="*/ 323850 w 395288"/>
                <a:gd name="csY6" fmla="*/ 90487 h 1228725"/>
                <a:gd name="csX7" fmla="*/ 328613 w 395288"/>
                <a:gd name="csY7" fmla="*/ 104775 h 1228725"/>
                <a:gd name="csX8" fmla="*/ 333375 w 395288"/>
                <a:gd name="csY8" fmla="*/ 114300 h 1228725"/>
                <a:gd name="csX9" fmla="*/ 335757 w 395288"/>
                <a:gd name="csY9" fmla="*/ 123825 h 1228725"/>
                <a:gd name="csX10" fmla="*/ 340519 w 395288"/>
                <a:gd name="csY10" fmla="*/ 130968 h 1228725"/>
                <a:gd name="csX11" fmla="*/ 352425 w 395288"/>
                <a:gd name="csY11" fmla="*/ 152400 h 1228725"/>
                <a:gd name="csX12" fmla="*/ 366713 w 395288"/>
                <a:gd name="csY12" fmla="*/ 183356 h 1228725"/>
                <a:gd name="csX13" fmla="*/ 369094 w 395288"/>
                <a:gd name="csY13" fmla="*/ 197643 h 1228725"/>
                <a:gd name="csX14" fmla="*/ 373857 w 395288"/>
                <a:gd name="csY14" fmla="*/ 207168 h 1228725"/>
                <a:gd name="csX15" fmla="*/ 376238 w 395288"/>
                <a:gd name="csY15" fmla="*/ 226218 h 1228725"/>
                <a:gd name="csX16" fmla="*/ 381000 w 395288"/>
                <a:gd name="csY16" fmla="*/ 245268 h 1228725"/>
                <a:gd name="csX17" fmla="*/ 383382 w 395288"/>
                <a:gd name="csY17" fmla="*/ 257175 h 1228725"/>
                <a:gd name="csX18" fmla="*/ 385763 w 395288"/>
                <a:gd name="csY18" fmla="*/ 326231 h 1228725"/>
                <a:gd name="csX19" fmla="*/ 388144 w 395288"/>
                <a:gd name="csY19" fmla="*/ 335756 h 1228725"/>
                <a:gd name="csX20" fmla="*/ 390525 w 395288"/>
                <a:gd name="csY20" fmla="*/ 357187 h 1228725"/>
                <a:gd name="csX21" fmla="*/ 392907 w 395288"/>
                <a:gd name="csY21" fmla="*/ 409575 h 1228725"/>
                <a:gd name="csX22" fmla="*/ 395288 w 395288"/>
                <a:gd name="csY22" fmla="*/ 452437 h 1228725"/>
                <a:gd name="csX23" fmla="*/ 390525 w 395288"/>
                <a:gd name="csY23" fmla="*/ 581025 h 1228725"/>
                <a:gd name="csX24" fmla="*/ 388144 w 395288"/>
                <a:gd name="csY24" fmla="*/ 590550 h 1228725"/>
                <a:gd name="csX25" fmla="*/ 385763 w 395288"/>
                <a:gd name="csY25" fmla="*/ 602456 h 1228725"/>
                <a:gd name="csX26" fmla="*/ 381000 w 395288"/>
                <a:gd name="csY26" fmla="*/ 619125 h 1228725"/>
                <a:gd name="csX27" fmla="*/ 376238 w 395288"/>
                <a:gd name="csY27" fmla="*/ 638175 h 1228725"/>
                <a:gd name="csX28" fmla="*/ 371475 w 395288"/>
                <a:gd name="csY28" fmla="*/ 654843 h 1228725"/>
                <a:gd name="csX29" fmla="*/ 361950 w 395288"/>
                <a:gd name="csY29" fmla="*/ 697706 h 1228725"/>
                <a:gd name="csX30" fmla="*/ 357188 w 395288"/>
                <a:gd name="csY30" fmla="*/ 719137 h 1228725"/>
                <a:gd name="csX31" fmla="*/ 345282 w 395288"/>
                <a:gd name="csY31" fmla="*/ 747712 h 1228725"/>
                <a:gd name="csX32" fmla="*/ 338138 w 395288"/>
                <a:gd name="csY32" fmla="*/ 771525 h 1228725"/>
                <a:gd name="csX33" fmla="*/ 328613 w 395288"/>
                <a:gd name="csY33" fmla="*/ 788193 h 1228725"/>
                <a:gd name="csX34" fmla="*/ 323850 w 395288"/>
                <a:gd name="csY34" fmla="*/ 804862 h 1228725"/>
                <a:gd name="csX35" fmla="*/ 319088 w 395288"/>
                <a:gd name="csY35" fmla="*/ 826293 h 1228725"/>
                <a:gd name="csX36" fmla="*/ 304800 w 395288"/>
                <a:gd name="csY36" fmla="*/ 850106 h 1228725"/>
                <a:gd name="csX37" fmla="*/ 290513 w 395288"/>
                <a:gd name="csY37" fmla="*/ 873918 h 1228725"/>
                <a:gd name="csX38" fmla="*/ 245269 w 395288"/>
                <a:gd name="csY38" fmla="*/ 931068 h 1228725"/>
                <a:gd name="csX39" fmla="*/ 240507 w 395288"/>
                <a:gd name="csY39" fmla="*/ 942975 h 1228725"/>
                <a:gd name="csX40" fmla="*/ 233363 w 395288"/>
                <a:gd name="csY40" fmla="*/ 969168 h 1228725"/>
                <a:gd name="csX41" fmla="*/ 219075 w 395288"/>
                <a:gd name="csY41" fmla="*/ 985837 h 1228725"/>
                <a:gd name="csX42" fmla="*/ 197644 w 395288"/>
                <a:gd name="csY42" fmla="*/ 1021556 h 1228725"/>
                <a:gd name="csX43" fmla="*/ 171450 w 395288"/>
                <a:gd name="csY43" fmla="*/ 1052512 h 1228725"/>
                <a:gd name="csX44" fmla="*/ 161925 w 395288"/>
                <a:gd name="csY44" fmla="*/ 1064418 h 1228725"/>
                <a:gd name="csX45" fmla="*/ 140494 w 395288"/>
                <a:gd name="csY45" fmla="*/ 1097756 h 1228725"/>
                <a:gd name="csX46" fmla="*/ 123825 w 395288"/>
                <a:gd name="csY46" fmla="*/ 1126331 h 1228725"/>
                <a:gd name="csX47" fmla="*/ 114300 w 395288"/>
                <a:gd name="csY47" fmla="*/ 1133475 h 1228725"/>
                <a:gd name="csX48" fmla="*/ 95250 w 395288"/>
                <a:gd name="csY48" fmla="*/ 1150143 h 1228725"/>
                <a:gd name="csX49" fmla="*/ 71438 w 395288"/>
                <a:gd name="csY49" fmla="*/ 1166812 h 1228725"/>
                <a:gd name="csX50" fmla="*/ 61913 w 395288"/>
                <a:gd name="csY50" fmla="*/ 1178718 h 1228725"/>
                <a:gd name="csX51" fmla="*/ 50007 w 395288"/>
                <a:gd name="csY51" fmla="*/ 1188243 h 1228725"/>
                <a:gd name="csX52" fmla="*/ 42863 w 395288"/>
                <a:gd name="csY52" fmla="*/ 1195387 h 1228725"/>
                <a:gd name="csX53" fmla="*/ 35719 w 395288"/>
                <a:gd name="csY53" fmla="*/ 1200150 h 1228725"/>
                <a:gd name="csX54" fmla="*/ 9525 w 395288"/>
                <a:gd name="csY54" fmla="*/ 1219200 h 1228725"/>
                <a:gd name="csX55" fmla="*/ 0 w 395288"/>
                <a:gd name="csY55" fmla="*/ 1228725 h 12287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</a:cxnLst>
              <a:rect l="l" t="t" r="r" b="b"/>
              <a:pathLst>
                <a:path w="395288" h="1228725">
                  <a:moveTo>
                    <a:pt x="283369" y="0"/>
                  </a:moveTo>
                  <a:cubicBezTo>
                    <a:pt x="284163" y="4762"/>
                    <a:pt x="283957" y="9804"/>
                    <a:pt x="285750" y="14287"/>
                  </a:cubicBezTo>
                  <a:cubicBezTo>
                    <a:pt x="287786" y="19378"/>
                    <a:pt x="296136" y="27054"/>
                    <a:pt x="300038" y="30956"/>
                  </a:cubicBezTo>
                  <a:cubicBezTo>
                    <a:pt x="305474" y="52701"/>
                    <a:pt x="298087" y="26077"/>
                    <a:pt x="309563" y="54768"/>
                  </a:cubicBezTo>
                  <a:cubicBezTo>
                    <a:pt x="317252" y="73990"/>
                    <a:pt x="306094" y="55518"/>
                    <a:pt x="316707" y="71437"/>
                  </a:cubicBezTo>
                  <a:cubicBezTo>
                    <a:pt x="317501" y="75406"/>
                    <a:pt x="317667" y="79553"/>
                    <a:pt x="319088" y="83343"/>
                  </a:cubicBezTo>
                  <a:cubicBezTo>
                    <a:pt x="320093" y="86023"/>
                    <a:pt x="322688" y="87872"/>
                    <a:pt x="323850" y="90487"/>
                  </a:cubicBezTo>
                  <a:cubicBezTo>
                    <a:pt x="325889" y="95075"/>
                    <a:pt x="326749" y="100114"/>
                    <a:pt x="328613" y="104775"/>
                  </a:cubicBezTo>
                  <a:cubicBezTo>
                    <a:pt x="329931" y="108071"/>
                    <a:pt x="332129" y="110976"/>
                    <a:pt x="333375" y="114300"/>
                  </a:cubicBezTo>
                  <a:cubicBezTo>
                    <a:pt x="334524" y="117364"/>
                    <a:pt x="334468" y="120817"/>
                    <a:pt x="335757" y="123825"/>
                  </a:cubicBezTo>
                  <a:cubicBezTo>
                    <a:pt x="336884" y="126455"/>
                    <a:pt x="339239" y="128409"/>
                    <a:pt x="340519" y="130968"/>
                  </a:cubicBezTo>
                  <a:cubicBezTo>
                    <a:pt x="351434" y="152797"/>
                    <a:pt x="338375" y="133664"/>
                    <a:pt x="352425" y="152400"/>
                  </a:cubicBezTo>
                  <a:cubicBezTo>
                    <a:pt x="359212" y="172758"/>
                    <a:pt x="354697" y="162328"/>
                    <a:pt x="366713" y="183356"/>
                  </a:cubicBezTo>
                  <a:cubicBezTo>
                    <a:pt x="367507" y="188118"/>
                    <a:pt x="367707" y="193019"/>
                    <a:pt x="369094" y="197643"/>
                  </a:cubicBezTo>
                  <a:cubicBezTo>
                    <a:pt x="370114" y="201043"/>
                    <a:pt x="372996" y="203724"/>
                    <a:pt x="373857" y="207168"/>
                  </a:cubicBezTo>
                  <a:cubicBezTo>
                    <a:pt x="375409" y="213376"/>
                    <a:pt x="375059" y="219928"/>
                    <a:pt x="376238" y="226218"/>
                  </a:cubicBezTo>
                  <a:cubicBezTo>
                    <a:pt x="377444" y="232651"/>
                    <a:pt x="379528" y="238890"/>
                    <a:pt x="381000" y="245268"/>
                  </a:cubicBezTo>
                  <a:cubicBezTo>
                    <a:pt x="381910" y="249212"/>
                    <a:pt x="382588" y="253206"/>
                    <a:pt x="383382" y="257175"/>
                  </a:cubicBezTo>
                  <a:cubicBezTo>
                    <a:pt x="384176" y="280194"/>
                    <a:pt x="384370" y="303241"/>
                    <a:pt x="385763" y="326231"/>
                  </a:cubicBezTo>
                  <a:cubicBezTo>
                    <a:pt x="385961" y="329498"/>
                    <a:pt x="387646" y="332521"/>
                    <a:pt x="388144" y="335756"/>
                  </a:cubicBezTo>
                  <a:cubicBezTo>
                    <a:pt x="389237" y="342860"/>
                    <a:pt x="389731" y="350043"/>
                    <a:pt x="390525" y="357187"/>
                  </a:cubicBezTo>
                  <a:cubicBezTo>
                    <a:pt x="391319" y="374650"/>
                    <a:pt x="392034" y="392116"/>
                    <a:pt x="392907" y="409575"/>
                  </a:cubicBezTo>
                  <a:cubicBezTo>
                    <a:pt x="393622" y="423867"/>
                    <a:pt x="395288" y="438128"/>
                    <a:pt x="395288" y="452437"/>
                  </a:cubicBezTo>
                  <a:cubicBezTo>
                    <a:pt x="395288" y="468347"/>
                    <a:pt x="393932" y="548660"/>
                    <a:pt x="390525" y="581025"/>
                  </a:cubicBezTo>
                  <a:cubicBezTo>
                    <a:pt x="390182" y="584280"/>
                    <a:pt x="388854" y="587355"/>
                    <a:pt x="388144" y="590550"/>
                  </a:cubicBezTo>
                  <a:cubicBezTo>
                    <a:pt x="387266" y="594501"/>
                    <a:pt x="386745" y="598530"/>
                    <a:pt x="385763" y="602456"/>
                  </a:cubicBezTo>
                  <a:cubicBezTo>
                    <a:pt x="384361" y="608062"/>
                    <a:pt x="382489" y="613541"/>
                    <a:pt x="381000" y="619125"/>
                  </a:cubicBezTo>
                  <a:cubicBezTo>
                    <a:pt x="379314" y="625449"/>
                    <a:pt x="377925" y="631851"/>
                    <a:pt x="376238" y="638175"/>
                  </a:cubicBezTo>
                  <a:cubicBezTo>
                    <a:pt x="374749" y="643758"/>
                    <a:pt x="372824" y="649224"/>
                    <a:pt x="371475" y="654843"/>
                  </a:cubicBezTo>
                  <a:cubicBezTo>
                    <a:pt x="368059" y="669075"/>
                    <a:pt x="365125" y="683418"/>
                    <a:pt x="361950" y="697706"/>
                  </a:cubicBezTo>
                  <a:cubicBezTo>
                    <a:pt x="360363" y="704850"/>
                    <a:pt x="360003" y="712382"/>
                    <a:pt x="357188" y="719137"/>
                  </a:cubicBezTo>
                  <a:cubicBezTo>
                    <a:pt x="353219" y="728662"/>
                    <a:pt x="348808" y="738015"/>
                    <a:pt x="345282" y="747712"/>
                  </a:cubicBezTo>
                  <a:cubicBezTo>
                    <a:pt x="342450" y="755500"/>
                    <a:pt x="341293" y="763862"/>
                    <a:pt x="338138" y="771525"/>
                  </a:cubicBezTo>
                  <a:cubicBezTo>
                    <a:pt x="335701" y="777442"/>
                    <a:pt x="331134" y="782311"/>
                    <a:pt x="328613" y="788193"/>
                  </a:cubicBezTo>
                  <a:cubicBezTo>
                    <a:pt x="326337" y="793504"/>
                    <a:pt x="325252" y="799256"/>
                    <a:pt x="323850" y="804862"/>
                  </a:cubicBezTo>
                  <a:cubicBezTo>
                    <a:pt x="322075" y="811961"/>
                    <a:pt x="321928" y="819549"/>
                    <a:pt x="319088" y="826293"/>
                  </a:cubicBezTo>
                  <a:cubicBezTo>
                    <a:pt x="315496" y="834824"/>
                    <a:pt x="309563" y="842168"/>
                    <a:pt x="304800" y="850106"/>
                  </a:cubicBezTo>
                  <a:cubicBezTo>
                    <a:pt x="300038" y="858043"/>
                    <a:pt x="296258" y="866661"/>
                    <a:pt x="290513" y="873918"/>
                  </a:cubicBezTo>
                  <a:lnTo>
                    <a:pt x="245269" y="931068"/>
                  </a:lnTo>
                  <a:cubicBezTo>
                    <a:pt x="243682" y="935037"/>
                    <a:pt x="241632" y="938851"/>
                    <a:pt x="240507" y="942975"/>
                  </a:cubicBezTo>
                  <a:cubicBezTo>
                    <a:pt x="237521" y="953924"/>
                    <a:pt x="239831" y="959467"/>
                    <a:pt x="233363" y="969168"/>
                  </a:cubicBezTo>
                  <a:cubicBezTo>
                    <a:pt x="229304" y="975257"/>
                    <a:pt x="223198" y="979791"/>
                    <a:pt x="219075" y="985837"/>
                  </a:cubicBezTo>
                  <a:cubicBezTo>
                    <a:pt x="211253" y="997309"/>
                    <a:pt x="206613" y="1010956"/>
                    <a:pt x="197644" y="1021556"/>
                  </a:cubicBezTo>
                  <a:lnTo>
                    <a:pt x="171450" y="1052512"/>
                  </a:lnTo>
                  <a:cubicBezTo>
                    <a:pt x="168196" y="1056416"/>
                    <a:pt x="164744" y="1060189"/>
                    <a:pt x="161925" y="1064418"/>
                  </a:cubicBezTo>
                  <a:cubicBezTo>
                    <a:pt x="155800" y="1073606"/>
                    <a:pt x="146272" y="1087164"/>
                    <a:pt x="140494" y="1097756"/>
                  </a:cubicBezTo>
                  <a:cubicBezTo>
                    <a:pt x="137335" y="1103548"/>
                    <a:pt x="129268" y="1122249"/>
                    <a:pt x="123825" y="1126331"/>
                  </a:cubicBezTo>
                  <a:cubicBezTo>
                    <a:pt x="120650" y="1128712"/>
                    <a:pt x="117313" y="1130892"/>
                    <a:pt x="114300" y="1133475"/>
                  </a:cubicBezTo>
                  <a:cubicBezTo>
                    <a:pt x="99929" y="1145794"/>
                    <a:pt x="115272" y="1136127"/>
                    <a:pt x="95250" y="1150143"/>
                  </a:cubicBezTo>
                  <a:cubicBezTo>
                    <a:pt x="82988" y="1158726"/>
                    <a:pt x="82563" y="1155687"/>
                    <a:pt x="71438" y="1166812"/>
                  </a:cubicBezTo>
                  <a:cubicBezTo>
                    <a:pt x="67844" y="1170406"/>
                    <a:pt x="65507" y="1175124"/>
                    <a:pt x="61913" y="1178718"/>
                  </a:cubicBezTo>
                  <a:cubicBezTo>
                    <a:pt x="58319" y="1182312"/>
                    <a:pt x="53832" y="1184896"/>
                    <a:pt x="50007" y="1188243"/>
                  </a:cubicBezTo>
                  <a:cubicBezTo>
                    <a:pt x="47473" y="1190461"/>
                    <a:pt x="45450" y="1193231"/>
                    <a:pt x="42863" y="1195387"/>
                  </a:cubicBezTo>
                  <a:cubicBezTo>
                    <a:pt x="40664" y="1197219"/>
                    <a:pt x="38034" y="1198467"/>
                    <a:pt x="35719" y="1200150"/>
                  </a:cubicBezTo>
                  <a:cubicBezTo>
                    <a:pt x="6377" y="1221490"/>
                    <a:pt x="26159" y="1208110"/>
                    <a:pt x="9525" y="1219200"/>
                  </a:cubicBezTo>
                  <a:cubicBezTo>
                    <a:pt x="3778" y="1227820"/>
                    <a:pt x="7322" y="1225063"/>
                    <a:pt x="0" y="1228725"/>
                  </a:cubicBezTo>
                </a:path>
              </a:pathLst>
            </a:custGeom>
            <a:noFill/>
            <a:ln w="9525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16BB98D7-1765-474F-AD21-3C03FA5A5F45}"/>
                </a:ext>
              </a:extLst>
            </p:cNvPr>
            <p:cNvSpPr txBox="1"/>
            <p:nvPr/>
          </p:nvSpPr>
          <p:spPr>
            <a:xfrm>
              <a:off x="12443850" y="8012568"/>
              <a:ext cx="209300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Based on edge extended to another features</a:t>
              </a:r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83CE2EE1-B9EF-EE8D-47E9-F5ED91CC69C7}"/>
                </a:ext>
              </a:extLst>
            </p:cNvPr>
            <p:cNvSpPr txBox="1"/>
            <p:nvPr/>
          </p:nvSpPr>
          <p:spPr>
            <a:xfrm>
              <a:off x="12443850" y="1749777"/>
              <a:ext cx="2093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straightford</a:t>
              </a:r>
              <a:endParaRPr lang="en-US" dirty="0"/>
            </a:p>
          </p:txBody>
        </p: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8C4CB16E-05E1-5565-D6B4-6432BBC09F52}"/>
                </a:ext>
              </a:extLst>
            </p:cNvPr>
            <p:cNvCxnSpPr/>
            <p:nvPr/>
          </p:nvCxnSpPr>
          <p:spPr>
            <a:xfrm flipH="1">
              <a:off x="10749066" y="1510632"/>
              <a:ext cx="167951" cy="761880"/>
            </a:xfrm>
            <a:prstGeom prst="line">
              <a:avLst/>
            </a:prstGeom>
            <a:ln>
              <a:solidFill>
                <a:schemeClr val="bg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013902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513</TotalTime>
  <Words>232</Words>
  <Application>Microsoft Office PowerPoint</Application>
  <PresentationFormat>Widescreen</PresentationFormat>
  <Paragraphs>56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Tian, Mengkun</dc:creator>
  <cp:lastModifiedBy>Tian, Mengkun</cp:lastModifiedBy>
  <cp:revision>4</cp:revision>
  <dcterms:created xsi:type="dcterms:W3CDTF">2026-07-21T20:19:10Z</dcterms:created>
  <dcterms:modified xsi:type="dcterms:W3CDTF">2026-07-28T00:34:20Z</dcterms:modified>
</cp:coreProperties>
</file>
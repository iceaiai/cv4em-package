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6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2274" y="8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BE5062-0C16-927D-522C-9658F10B57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9929F5-9905-A109-3B3C-FD6C36CC79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D368F5-E28A-48DA-B189-A39F25834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D54128-8240-1EA7-C71C-BA5722A4F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F4A81-30EA-CF94-B959-B06AEAAAA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841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23B0-00BB-333B-5949-10E5FE93C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73BBA4-FC98-93C3-E117-8383345614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F7CF8-2EA8-2B08-E2FF-056A297C3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5A66B2-EFAD-F8D7-F058-E92F3E6F1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D6570-6E9E-5888-9DE3-F4BCBA444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833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A7140-A1B2-C395-CE3B-5C3C8FD863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F900A-2E7A-020B-B6CF-78A6AC5628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834C8E-6CD9-C530-FFFA-8D63206E3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E3ABC7-5D86-BE50-3F8F-2B24B54D8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6F587-5A5C-D7A1-4D60-599ABBAE9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992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201C8-9641-1A99-CD03-D5F7DBE08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244C4-2CED-3B3B-D951-17E0EB252A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81AE2-10DE-6708-6153-16989C5862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CF6CA-B6CF-7650-885A-E20AB0E59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63C19-2B1A-D88B-4B0A-86B4742E5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A03012-7209-6006-C1A9-1C065795D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66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A03F2-BCDF-2ECD-9AA6-B554D110DB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3869C6-B7F5-089B-1B22-615CF86642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6FE9AD-B87C-356D-17CF-A6BACFD54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96BD3F-8E07-C83D-13B3-E21FC83D14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96E3E2-7797-B6D9-F8C6-24E2BBC73F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EC6CC9-3090-40FE-2B26-85C2DA539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908C55-93AE-934C-1780-DBF129E5C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4D89ED-45F3-1479-43EE-DA81F241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226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9A626-CC73-994B-D7F9-5AEB4A80E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7C0B7B-B6D7-2D08-701A-BDA6BB46F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9FAE971-9D5F-098F-D224-F86BEE9DE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1DCB52-8F63-A186-34B4-C1E31E038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907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D47122-7EFC-E58A-DFBC-D2377776C4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DFFF20-3BC7-3D9A-EF0C-D3C680267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4900E-3CE4-DC33-5102-9B49B2997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462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FE0C7-63BE-A884-E568-09ADA588F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F92E9-7258-73F3-4FC3-D18387CC60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CE1D2C-0C43-516A-98CE-1F7E92AC88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4428CD-8B62-C93B-B662-3F0646D1C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3F2386-1742-8B84-0760-1ADF12043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886663-FA41-2616-FF0C-35CA3F993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8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74EB8-7BE9-499E-837D-7C7661CE7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3C84A8-1AE9-C4AD-B4DB-236FC8B1D1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7A1FD0-9429-94A9-AD79-823AAF7851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8DFD3-1E70-12E9-D1BA-9AE009D78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C31102-3EA7-6C6B-1F94-6A6110823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FAF2FF-2695-68E9-E4E7-CD9CFCECB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785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C8BC5-614E-D8BF-50D9-8BE1A9056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F766FC-F1A3-575D-4351-55B5763CDB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B7BC0C-A320-6893-FDC8-1550A97C4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27D506-B5C8-B8A8-BB89-EBA252CC3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3BAAAE-C476-10FE-52F3-F0206C171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044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CEAEAD-8395-055F-5686-E1055DBC28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FA94B2-8839-B9E3-C82C-02E8976285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F97BD-435A-6EB7-232B-4F7A36AED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DA058-2EB6-6C81-E2F3-9EC8D82BD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9C94F-56EB-0294-369A-00B0FEF87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5910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2B7692-3E54-8C4D-F391-B1E94D654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8BE9F0-3A5A-EC2B-77AB-077519066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8B1F5-77B9-5BD1-4332-41F562D1B9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3E89FB-0AEC-40DA-944B-EB6C1352857C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74E82A-E920-6A69-8D29-A30D616FA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DCF3F1-AFCB-D339-4E5D-FF1F1E8AC1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13E497-F561-411E-9482-6CFC6CF14B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541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jp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jp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26E97CBD-FBB7-58B9-8FAB-ABF1FF4B4DAC}"/>
              </a:ext>
            </a:extLst>
          </p:cNvPr>
          <p:cNvGrpSpPr/>
          <p:nvPr/>
        </p:nvGrpSpPr>
        <p:grpSpPr>
          <a:xfrm>
            <a:off x="816604" y="301549"/>
            <a:ext cx="9437392" cy="7863741"/>
            <a:chOff x="816604" y="301549"/>
            <a:chExt cx="9437392" cy="78637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84FEEE-53EF-8973-9599-5E3E9693AF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39746" y="670881"/>
              <a:ext cx="1828800" cy="18288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5EBAB2F-4CFC-5B36-B755-4F93417BC35D}"/>
                </a:ext>
              </a:extLst>
            </p:cNvPr>
            <p:cNvSpPr txBox="1"/>
            <p:nvPr/>
          </p:nvSpPr>
          <p:spPr>
            <a:xfrm>
              <a:off x="1222488" y="301549"/>
              <a:ext cx="12633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Nanocube</a:t>
              </a:r>
              <a:endParaRPr lang="en-US" dirty="0"/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F2035EE-5DCE-64FB-E05B-6EDB077057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4200" y="670881"/>
              <a:ext cx="1828800" cy="18288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2064229-A2A0-F27B-5DF2-16436A5F65BA}"/>
                </a:ext>
              </a:extLst>
            </p:cNvPr>
            <p:cNvSpPr txBox="1"/>
            <p:nvPr/>
          </p:nvSpPr>
          <p:spPr>
            <a:xfrm>
              <a:off x="3526776" y="301549"/>
              <a:ext cx="12633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Nanorod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F6ED386-8B60-17B3-7F5F-4C71EDE80078}"/>
                </a:ext>
              </a:extLst>
            </p:cNvPr>
            <p:cNvSpPr txBox="1"/>
            <p:nvPr/>
          </p:nvSpPr>
          <p:spPr>
            <a:xfrm>
              <a:off x="5548322" y="301549"/>
              <a:ext cx="15460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Nanosphere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40B3CC3-9CE2-A1C1-DDBA-000C0182C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13320" y="670881"/>
              <a:ext cx="1828800" cy="18288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2440FB1-5584-5AC8-35B0-84CA6E06CD7C}"/>
                </a:ext>
              </a:extLst>
            </p:cNvPr>
            <p:cNvSpPr txBox="1"/>
            <p:nvPr/>
          </p:nvSpPr>
          <p:spPr>
            <a:xfrm>
              <a:off x="7654691" y="301549"/>
              <a:ext cx="15460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Core-shell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2A4890A-C21D-AA5B-40A0-55A3C9C37C7F}"/>
                </a:ext>
              </a:extLst>
            </p:cNvPr>
            <p:cNvSpPr txBox="1"/>
            <p:nvPr/>
          </p:nvSpPr>
          <p:spPr>
            <a:xfrm rot="5400000">
              <a:off x="9578130" y="1271809"/>
              <a:ext cx="982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Lyu’s</a:t>
              </a:r>
            </a:p>
          </p:txBody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0AFC395-A309-E235-EE6F-795BAA3D6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13249" y="670881"/>
              <a:ext cx="1828800" cy="1828800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BB5207A8-BDD5-3283-470E-8C09ABF9EB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332"/>
            <a:stretch>
              <a:fillRect/>
            </a:stretch>
          </p:blipFill>
          <p:spPr>
            <a:xfrm>
              <a:off x="974404" y="2849141"/>
              <a:ext cx="2356316" cy="1828800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F2FAB0D-FB86-F1EB-91E3-23FA35FD87F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744"/>
            <a:stretch>
              <a:fillRect/>
            </a:stretch>
          </p:blipFill>
          <p:spPr>
            <a:xfrm>
              <a:off x="1602535" y="3007904"/>
              <a:ext cx="2829023" cy="18288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E7A8CCA-D1A2-A8E4-DB47-E17A632A951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41245" y="3168860"/>
              <a:ext cx="1846659" cy="1828800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2666A45-CDF7-FDD4-60F7-DFB972267DA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41038" y="3329816"/>
              <a:ext cx="1832372" cy="18288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B11B00AA-E53F-CD61-8B16-ACBBA70CDA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265822" y="3516127"/>
              <a:ext cx="1907381" cy="18288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F8A59F79-A987-4DF3-1EF1-615E123CC5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90912" y="3683689"/>
              <a:ext cx="2364581" cy="18288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F83F84E-E7C0-CD3B-7E3D-C8C7CB954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67131" y="3797250"/>
              <a:ext cx="1825235" cy="18288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DFF022C3-E6C2-3AED-6B53-63D33FE54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81061" y="3971331"/>
              <a:ext cx="1846659" cy="1828800"/>
            </a:xfrm>
            <a:prstGeom prst="rect">
              <a:avLst/>
            </a:prstGeom>
          </p:spPr>
        </p:pic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ADCA8E39-3EDA-1109-1CF2-0CB36D6CE50F}"/>
                </a:ext>
              </a:extLst>
            </p:cNvPr>
            <p:cNvSpPr txBox="1"/>
            <p:nvPr/>
          </p:nvSpPr>
          <p:spPr>
            <a:xfrm rot="5400000">
              <a:off x="9400081" y="4652038"/>
              <a:ext cx="982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Kaggle</a:t>
              </a:r>
            </a:p>
          </p:txBody>
        </p:sp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28C284B0-112A-D406-1ECD-A7FD1F63EB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355168" y="4174889"/>
              <a:ext cx="1946672" cy="1828800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DF40A974-9F59-8704-AC06-91D91D5CD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604" y="5505883"/>
              <a:ext cx="2710118" cy="1828800"/>
            </a:xfrm>
            <a:prstGeom prst="rect">
              <a:avLst/>
            </a:prstGeom>
          </p:spPr>
        </p:pic>
        <p:pic>
          <p:nvPicPr>
            <p:cNvPr id="50" name="Picture 49">
              <a:extLst>
                <a:ext uri="{FF2B5EF4-FFF2-40B4-BE49-F238E27FC236}">
                  <a16:creationId xmlns:a16="http://schemas.microsoft.com/office/drawing/2014/main" id="{AAC28EFE-675E-DF31-B594-71139E4AA2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30190" y="5800131"/>
              <a:ext cx="2616465" cy="18288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8B3435E5-C43B-6D0A-7DDF-6D02F6026C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800203" y="5895658"/>
              <a:ext cx="2854712" cy="18288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9B9AD01-7E53-958E-9FDB-C494DA55B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16547" y="6165266"/>
              <a:ext cx="1828800" cy="1828800"/>
            </a:xfrm>
            <a:prstGeom prst="rect">
              <a:avLst/>
            </a:prstGeom>
          </p:spPr>
        </p:pic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B65E001-A98E-D65B-97A5-4138CBF44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414104" y="6336490"/>
              <a:ext cx="1828800" cy="182880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EF4A4042-8746-299D-DA6C-A57F3B14C4FF}"/>
                </a:ext>
              </a:extLst>
            </p:cNvPr>
            <p:cNvSpPr txBox="1"/>
            <p:nvPr/>
          </p:nvSpPr>
          <p:spPr>
            <a:xfrm rot="5400000">
              <a:off x="9510893" y="6949655"/>
              <a:ext cx="9823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MCF</a:t>
              </a:r>
            </a:p>
          </p:txBody>
        </p:sp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F3A60431-5757-6E84-E373-92908EF4BDF4}"/>
              </a:ext>
            </a:extLst>
          </p:cNvPr>
          <p:cNvSpPr txBox="1"/>
          <p:nvPr/>
        </p:nvSpPr>
        <p:spPr>
          <a:xfrm>
            <a:off x="816604" y="8316686"/>
            <a:ext cx="88900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Figure 1. Representative images from the dataset, including </a:t>
            </a:r>
            <a:r>
              <a:rPr lang="en-US" dirty="0" err="1"/>
              <a:t>nanocubes</a:t>
            </a:r>
            <a:r>
              <a:rPr lang="en-US" dirty="0"/>
              <a:t>, nanorods, nanospheres, and core–shell structures obtained from Lyu’s dataset, Kaggle, and MCF.</a:t>
            </a:r>
          </a:p>
        </p:txBody>
      </p:sp>
    </p:spTree>
    <p:extLst>
      <p:ext uri="{BB962C8B-B14F-4D97-AF65-F5344CB8AC3E}">
        <p14:creationId xmlns:p14="http://schemas.microsoft.com/office/powerpoint/2010/main" val="1322298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11A17EFA-04CA-A77D-C68C-1E501957D8C2}"/>
              </a:ext>
            </a:extLst>
          </p:cNvPr>
          <p:cNvSpPr txBox="1"/>
          <p:nvPr/>
        </p:nvSpPr>
        <p:spPr>
          <a:xfrm>
            <a:off x="336884" y="3518034"/>
            <a:ext cx="110142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</a:t>
            </a:r>
            <a:r>
              <a:rPr lang="en-US" altLang="zh-CN" dirty="0"/>
              <a:t>igure 1.a. Well separated particles. b. one particle slightly overlap with </a:t>
            </a:r>
            <a:r>
              <a:rPr lang="en-US" altLang="zh-CN" dirty="0" err="1"/>
              <a:t>neighbouring</a:t>
            </a:r>
            <a:r>
              <a:rPr lang="en-US" altLang="zh-CN" dirty="0"/>
              <a:t> 3 particles. c. multiple nanoparticle overlapped together that human cannot recognize. </a:t>
            </a:r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9FF4A1-CED7-43A5-D9E2-F68B90D45985}"/>
              </a:ext>
            </a:extLst>
          </p:cNvPr>
          <p:cNvGrpSpPr/>
          <p:nvPr/>
        </p:nvGrpSpPr>
        <p:grpSpPr>
          <a:xfrm>
            <a:off x="-152400" y="-2"/>
            <a:ext cx="11524653" cy="3339969"/>
            <a:chOff x="-152400" y="-2"/>
            <a:chExt cx="11524653" cy="333996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813BD2D-15A8-1579-F474-769E706CF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393" r="52686" b="64277"/>
            <a:stretch>
              <a:fillRect/>
            </a:stretch>
          </p:blipFill>
          <p:spPr>
            <a:xfrm>
              <a:off x="4166135" y="-2"/>
              <a:ext cx="3358417" cy="3339967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8E55DD77-F41A-423F-0AB5-D2677B791F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6884" y="0"/>
              <a:ext cx="3339967" cy="33399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B8929856-D246-BB21-1C92-DE6CDBA070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9791" t="18231" r="229" b="51826"/>
            <a:stretch>
              <a:fillRect/>
            </a:stretch>
          </p:blipFill>
          <p:spPr>
            <a:xfrm>
              <a:off x="8028449" y="-1"/>
              <a:ext cx="3343804" cy="3339966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BD17EC-D728-0D08-B33A-615C03EA10B8}"/>
                </a:ext>
              </a:extLst>
            </p:cNvPr>
            <p:cNvSpPr txBox="1"/>
            <p:nvPr/>
          </p:nvSpPr>
          <p:spPr>
            <a:xfrm>
              <a:off x="-152400" y="0"/>
              <a:ext cx="48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(a)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8601C55-983A-B190-C37C-EBB105354542}"/>
                </a:ext>
              </a:extLst>
            </p:cNvPr>
            <p:cNvSpPr txBox="1"/>
            <p:nvPr/>
          </p:nvSpPr>
          <p:spPr>
            <a:xfrm>
              <a:off x="3676851" y="0"/>
              <a:ext cx="48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(b)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81DC4A3-590D-5BA0-43C3-A3B0A4CAEFAC}"/>
                </a:ext>
              </a:extLst>
            </p:cNvPr>
            <p:cNvSpPr txBox="1"/>
            <p:nvPr/>
          </p:nvSpPr>
          <p:spPr>
            <a:xfrm>
              <a:off x="7524552" y="-2"/>
              <a:ext cx="4892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10221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6BC09F8-D95D-8E66-53C1-54EE0E424833}"/>
              </a:ext>
            </a:extLst>
          </p:cNvPr>
          <p:cNvSpPr txBox="1"/>
          <p:nvPr/>
        </p:nvSpPr>
        <p:spPr>
          <a:xfrm>
            <a:off x="0" y="0"/>
            <a:ext cx="37211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cleaning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92AB356-A834-8078-7E54-DC424553CCDC}"/>
              </a:ext>
            </a:extLst>
          </p:cNvPr>
          <p:cNvSpPr/>
          <p:nvPr/>
        </p:nvSpPr>
        <p:spPr>
          <a:xfrm>
            <a:off x="10436984" y="618850"/>
            <a:ext cx="1927496" cy="6313055"/>
          </a:xfrm>
          <a:prstGeom prst="rect">
            <a:avLst/>
          </a:prstGeom>
          <a:solidFill>
            <a:srgbClr val="92D050">
              <a:alpha val="6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DA1932E-E7CE-D90E-555E-E6782C1CC3E6}"/>
              </a:ext>
            </a:extLst>
          </p:cNvPr>
          <p:cNvGrpSpPr/>
          <p:nvPr/>
        </p:nvGrpSpPr>
        <p:grpSpPr>
          <a:xfrm>
            <a:off x="2196769" y="-650722"/>
            <a:ext cx="7418932" cy="9062578"/>
            <a:chOff x="2196769" y="-650722"/>
            <a:chExt cx="7418932" cy="906257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A33B885-1185-CD21-DCE7-71F209DB5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401" t="50531" r="1848" b="-247"/>
            <a:stretch>
              <a:fillRect/>
            </a:stretch>
          </p:blipFill>
          <p:spPr>
            <a:xfrm rot="5400000">
              <a:off x="2478176" y="-40870"/>
              <a:ext cx="1830160" cy="1828800"/>
            </a:xfrm>
            <a:prstGeom prst="rect">
              <a:avLst/>
            </a:prstGeom>
          </p:spPr>
        </p:pic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98E193A4-FBCC-27D8-738C-3744DDCBDB79}"/>
                </a:ext>
              </a:extLst>
            </p:cNvPr>
            <p:cNvGrpSpPr/>
            <p:nvPr/>
          </p:nvGrpSpPr>
          <p:grpSpPr>
            <a:xfrm>
              <a:off x="2492711" y="1243511"/>
              <a:ext cx="857250" cy="369332"/>
              <a:chOff x="4531466" y="2454594"/>
              <a:chExt cx="857250" cy="369332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88F0C72-6BA8-67DA-86B7-2C9FF88AB672}"/>
                  </a:ext>
                </a:extLst>
              </p:cNvPr>
              <p:cNvSpPr/>
              <p:nvPr/>
            </p:nvSpPr>
            <p:spPr>
              <a:xfrm>
                <a:off x="4576043" y="2769062"/>
                <a:ext cx="768096" cy="548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04D0C05F-8D29-3DCE-52E5-CB9F3AFE4E4D}"/>
                  </a:ext>
                </a:extLst>
              </p:cNvPr>
              <p:cNvSpPr txBox="1"/>
              <p:nvPr/>
            </p:nvSpPr>
            <p:spPr>
              <a:xfrm>
                <a:off x="4531466" y="2454594"/>
                <a:ext cx="85725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bg1"/>
                    </a:solidFill>
                  </a:rPr>
                  <a:t>20 nm</a:t>
                </a:r>
              </a:p>
            </p:txBody>
          </p:sp>
        </p:grpSp>
        <p:sp>
          <p:nvSpPr>
            <p:cNvPr id="21" name="Arrow: Right 20">
              <a:extLst>
                <a:ext uri="{FF2B5EF4-FFF2-40B4-BE49-F238E27FC236}">
                  <a16:creationId xmlns:a16="http://schemas.microsoft.com/office/drawing/2014/main" id="{E50DA43C-A467-C8F0-8361-77E488617599}"/>
                </a:ext>
              </a:extLst>
            </p:cNvPr>
            <p:cNvSpPr/>
            <p:nvPr/>
          </p:nvSpPr>
          <p:spPr>
            <a:xfrm>
              <a:off x="4489216" y="1368446"/>
              <a:ext cx="3029527" cy="360218"/>
            </a:xfrm>
            <a:prstGeom prst="rightArrow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27E8EC0-0831-41FB-CBA1-2D13E0DEDD0C}"/>
                </a:ext>
              </a:extLst>
            </p:cNvPr>
            <p:cNvSpPr txBox="1"/>
            <p:nvPr/>
          </p:nvSpPr>
          <p:spPr>
            <a:xfrm>
              <a:off x="2380160" y="-364608"/>
              <a:ext cx="220107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Case 1: with background only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6FD13F5-30FD-F918-4E06-4E23B0B0B0F1}"/>
                </a:ext>
              </a:extLst>
            </p:cNvPr>
            <p:cNvSpPr txBox="1"/>
            <p:nvPr/>
          </p:nvSpPr>
          <p:spPr>
            <a:xfrm>
              <a:off x="5572779" y="-650722"/>
              <a:ext cx="99506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Strategies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B84D207-94A9-DE9C-DDE9-A398B45F49A2}"/>
                </a:ext>
              </a:extLst>
            </p:cNvPr>
            <p:cNvSpPr txBox="1"/>
            <p:nvPr/>
          </p:nvSpPr>
          <p:spPr>
            <a:xfrm>
              <a:off x="3037614" y="-650722"/>
              <a:ext cx="89880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Cases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C920FE4-0672-CBE8-D035-69A833570FFA}"/>
                </a:ext>
              </a:extLst>
            </p:cNvPr>
            <p:cNvSpPr txBox="1"/>
            <p:nvPr/>
          </p:nvSpPr>
          <p:spPr>
            <a:xfrm>
              <a:off x="4531870" y="-159397"/>
              <a:ext cx="3128260" cy="178510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Preferred: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Smooth background: </a:t>
              </a:r>
              <a:r>
                <a:rPr lang="en-US" sz="1000" dirty="0" err="1"/>
                <a:t>Telea</a:t>
              </a:r>
              <a:r>
                <a:rPr lang="en-US" sz="1000" dirty="0"/>
                <a:t>, PDE, TV, or surface fitting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Texture background: Constrained </a:t>
              </a:r>
              <a:r>
                <a:rPr lang="en-US" sz="1000" dirty="0" err="1"/>
                <a:t>PatchMatch</a:t>
              </a:r>
              <a:r>
                <a:rPr lang="en-US" sz="1000" dirty="0"/>
                <a:t> or local patch synthesis</a:t>
              </a:r>
            </a:p>
            <a:p>
              <a:r>
                <a:rPr lang="en-US" sz="1000" dirty="0"/>
                <a:t>Advanced: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Smooth background: DCT-sparse or TEM-adapted inpainting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Texture background: </a:t>
              </a:r>
              <a:r>
                <a:rPr lang="en-US" sz="1000" dirty="0">
                  <a:solidFill>
                    <a:srgbClr val="000000"/>
                  </a:solidFill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TEM-adapted </a:t>
              </a:r>
              <a:r>
                <a:rPr lang="en-US" sz="1000" dirty="0" err="1">
                  <a:solidFill>
                    <a:srgbClr val="000000"/>
                  </a:solidFill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LaMa</a:t>
              </a:r>
              <a:r>
                <a:rPr lang="en-US" sz="1000" dirty="0">
                  <a:solidFill>
                    <a:srgbClr val="000000"/>
                  </a:solidFill>
                  <a:effectLst/>
                  <a:latin typeface="Aptos" panose="020B0004020202020204" pitchFamily="34" charset="0"/>
                  <a:ea typeface="Aptos" panose="020B0004020202020204" pitchFamily="34" charset="0"/>
                  <a:cs typeface="Times New Roman" panose="02020603050405020304" pitchFamily="18" charset="0"/>
                </a:rPr>
                <a:t>/partial convolution</a:t>
              </a:r>
              <a:endParaRPr lang="en-US" sz="1000" dirty="0">
                <a:effectLst/>
                <a:latin typeface="Aptos" panose="020B0004020202020204" pitchFamily="34" charset="0"/>
                <a:ea typeface="MS Mincho" panose="02020609040205080304" pitchFamily="49" charset="-128"/>
                <a:cs typeface="Times New Roman" panose="02020603050405020304" pitchFamily="18" charset="0"/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endParaRPr lang="en-US" sz="1000" dirty="0"/>
            </a:p>
          </p:txBody>
        </p:sp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7FD8FF41-66F8-2DFC-AFAE-DD9037AA8C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401" t="50531" r="1848" b="-247"/>
            <a:stretch>
              <a:fillRect/>
            </a:stretch>
          </p:blipFill>
          <p:spPr>
            <a:xfrm rot="5400000">
              <a:off x="7786220" y="-40870"/>
              <a:ext cx="1830160" cy="1828800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8E08666-43A4-630D-1BA5-F51EFE0A5C08}"/>
                </a:ext>
              </a:extLst>
            </p:cNvPr>
            <p:cNvSpPr txBox="1"/>
            <p:nvPr/>
          </p:nvSpPr>
          <p:spPr>
            <a:xfrm>
              <a:off x="8251895" y="-641607"/>
              <a:ext cx="12174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Target result</a:t>
              </a: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9E4779B3-77E3-2734-E832-13F54BC8244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630" t="10903" r="24793" b="61518"/>
            <a:stretch>
              <a:fillRect/>
            </a:stretch>
          </p:blipFill>
          <p:spPr>
            <a:xfrm rot="5400000">
              <a:off x="2492737" y="2130328"/>
              <a:ext cx="1828747" cy="1828800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61E76B0-2391-243B-8F09-C04BE3163EF6}"/>
                </a:ext>
              </a:extLst>
            </p:cNvPr>
            <p:cNvSpPr txBox="1"/>
            <p:nvPr/>
          </p:nvSpPr>
          <p:spPr>
            <a:xfrm>
              <a:off x="2380159" y="1834669"/>
              <a:ext cx="210905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Case 2: with particle only</a:t>
              </a:r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A1DC89AB-3065-5EDB-ABEB-C0D2BA0AA4E4}"/>
                </a:ext>
              </a:extLst>
            </p:cNvPr>
            <p:cNvGrpSpPr/>
            <p:nvPr/>
          </p:nvGrpSpPr>
          <p:grpSpPr>
            <a:xfrm>
              <a:off x="2428145" y="3397194"/>
              <a:ext cx="852678" cy="353836"/>
              <a:chOff x="4536038" y="2482026"/>
              <a:chExt cx="852678" cy="353836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7305E91-514B-72D8-0305-91CE46005DD5}"/>
                  </a:ext>
                </a:extLst>
              </p:cNvPr>
              <p:cNvSpPr/>
              <p:nvPr/>
            </p:nvSpPr>
            <p:spPr>
              <a:xfrm>
                <a:off x="4703763" y="2780998"/>
                <a:ext cx="343204" cy="5486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B2A3AF7B-4331-D42D-4BA2-0ED8815335CB}"/>
                  </a:ext>
                </a:extLst>
              </p:cNvPr>
              <p:cNvSpPr txBox="1"/>
              <p:nvPr/>
            </p:nvSpPr>
            <p:spPr>
              <a:xfrm>
                <a:off x="4536038" y="2482026"/>
                <a:ext cx="8526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i="1" dirty="0">
                    <a:solidFill>
                      <a:schemeClr val="bg1"/>
                    </a:solidFill>
                  </a:rPr>
                  <a:t>10 nm</a:t>
                </a:r>
              </a:p>
            </p:txBody>
          </p:sp>
        </p:grpSp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65FE8F1D-7F1F-3BB0-D1E6-48FE51EA9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7630" t="10903" r="24793" b="61518"/>
            <a:stretch>
              <a:fillRect/>
            </a:stretch>
          </p:blipFill>
          <p:spPr>
            <a:xfrm rot="5400000">
              <a:off x="7786927" y="2130328"/>
              <a:ext cx="1828747" cy="1828800"/>
            </a:xfrm>
            <a:prstGeom prst="rect">
              <a:avLst/>
            </a:prstGeom>
          </p:spPr>
        </p:pic>
        <p:sp>
          <p:nvSpPr>
            <p:cNvPr id="43" name="Arrow: Right 42">
              <a:extLst>
                <a:ext uri="{FF2B5EF4-FFF2-40B4-BE49-F238E27FC236}">
                  <a16:creationId xmlns:a16="http://schemas.microsoft.com/office/drawing/2014/main" id="{204D5744-E30D-FEC3-730E-1D53F7681DB4}"/>
                </a:ext>
              </a:extLst>
            </p:cNvPr>
            <p:cNvSpPr/>
            <p:nvPr/>
          </p:nvSpPr>
          <p:spPr>
            <a:xfrm>
              <a:off x="4522902" y="3153550"/>
              <a:ext cx="3029527" cy="360218"/>
            </a:xfrm>
            <a:prstGeom prst="rightArrow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8B4A1C6-499D-431B-B6CA-B8F7023649C9}"/>
                </a:ext>
              </a:extLst>
            </p:cNvPr>
            <p:cNvSpPr txBox="1"/>
            <p:nvPr/>
          </p:nvSpPr>
          <p:spPr>
            <a:xfrm>
              <a:off x="4581236" y="2199011"/>
              <a:ext cx="2430780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Preferred: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Same-particle </a:t>
              </a:r>
              <a:r>
                <a:rPr lang="en-US" sz="1000" dirty="0" err="1"/>
                <a:t>PatchMatch</a:t>
              </a:r>
              <a:r>
                <a:rPr lang="en-US" sz="1000" dirty="0"/>
                <a:t> or directional interpolation</a:t>
              </a:r>
            </a:p>
            <a:p>
              <a:r>
                <a:rPr lang="en-US" sz="1000" dirty="0"/>
                <a:t>Advanced: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TEM-adapted inpainting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3671C5D-D350-AFE5-DB45-8B691A622F17}"/>
                </a:ext>
              </a:extLst>
            </p:cNvPr>
            <p:cNvSpPr txBox="1"/>
            <p:nvPr/>
          </p:nvSpPr>
          <p:spPr>
            <a:xfrm>
              <a:off x="2198647" y="4030904"/>
              <a:ext cx="25767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Case 3: with background + particle</a:t>
              </a:r>
            </a:p>
          </p:txBody>
        </p:sp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FC4BE566-2E37-75EF-F31D-D934F791E4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126" t="15640" r="13208" b="42822"/>
            <a:stretch>
              <a:fillRect/>
            </a:stretch>
          </p:blipFill>
          <p:spPr>
            <a:xfrm rot="5400000">
              <a:off x="2458697" y="4308139"/>
              <a:ext cx="1834513" cy="1828800"/>
            </a:xfrm>
            <a:prstGeom prst="rect">
              <a:avLst/>
            </a:prstGeom>
          </p:spPr>
        </p:pic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50CE974-E61F-B4D4-A6E3-A6F3EFD1227A}"/>
                </a:ext>
              </a:extLst>
            </p:cNvPr>
            <p:cNvSpPr/>
            <p:nvPr/>
          </p:nvSpPr>
          <p:spPr>
            <a:xfrm>
              <a:off x="2629277" y="5931983"/>
              <a:ext cx="684953" cy="460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0C01F06-B0CD-29DB-F322-DDAC0B24C133}"/>
                </a:ext>
              </a:extLst>
            </p:cNvPr>
            <p:cNvSpPr txBox="1"/>
            <p:nvPr/>
          </p:nvSpPr>
          <p:spPr>
            <a:xfrm>
              <a:off x="2537288" y="5670265"/>
              <a:ext cx="85267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i="1" dirty="0">
                  <a:solidFill>
                    <a:schemeClr val="bg1"/>
                  </a:solidFill>
                </a:rPr>
                <a:t>15 nm</a:t>
              </a:r>
            </a:p>
          </p:txBody>
        </p:sp>
        <p:sp>
          <p:nvSpPr>
            <p:cNvPr id="54" name="Arrow: Right 53">
              <a:extLst>
                <a:ext uri="{FF2B5EF4-FFF2-40B4-BE49-F238E27FC236}">
                  <a16:creationId xmlns:a16="http://schemas.microsoft.com/office/drawing/2014/main" id="{575B578C-650A-AA30-C22D-009D668D166A}"/>
                </a:ext>
              </a:extLst>
            </p:cNvPr>
            <p:cNvSpPr/>
            <p:nvPr/>
          </p:nvSpPr>
          <p:spPr>
            <a:xfrm>
              <a:off x="4417722" y="5655542"/>
              <a:ext cx="3029527" cy="360218"/>
            </a:xfrm>
            <a:prstGeom prst="rightArrow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776B3AAC-1BD6-5AE0-24B5-C726F78E0579}"/>
                </a:ext>
              </a:extLst>
            </p:cNvPr>
            <p:cNvSpPr txBox="1"/>
            <p:nvPr/>
          </p:nvSpPr>
          <p:spPr>
            <a:xfrm>
              <a:off x="4581236" y="4460275"/>
              <a:ext cx="2430780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Preferred: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Manual shape completion plus separate filling</a:t>
              </a:r>
            </a:p>
            <a:p>
              <a:r>
                <a:rPr lang="en-US" sz="1000" dirty="0"/>
                <a:t>Advanced: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Morphology-assisted restoration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FEBF4C5D-882A-DFB6-1835-A3A0AABCAF0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5126" t="15640" r="13208" b="42822"/>
            <a:stretch>
              <a:fillRect/>
            </a:stretch>
          </p:blipFill>
          <p:spPr>
            <a:xfrm rot="5400000">
              <a:off x="7784044" y="4347151"/>
              <a:ext cx="1834513" cy="1828800"/>
            </a:xfrm>
            <a:prstGeom prst="rect">
              <a:avLst/>
            </a:prstGeom>
          </p:spPr>
        </p:pic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717C2550-3F17-D3A6-516B-113D0ED7B68F}"/>
                </a:ext>
              </a:extLst>
            </p:cNvPr>
            <p:cNvSpPr txBox="1"/>
            <p:nvPr/>
          </p:nvSpPr>
          <p:spPr>
            <a:xfrm>
              <a:off x="2196769" y="6231720"/>
              <a:ext cx="25767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Case 4: highly overlapped particles</a:t>
              </a:r>
            </a:p>
          </p:txBody>
        </p:sp>
        <p:pic>
          <p:nvPicPr>
            <p:cNvPr id="62" name="Picture 61">
              <a:extLst>
                <a:ext uri="{FF2B5EF4-FFF2-40B4-BE49-F238E27FC236}">
                  <a16:creationId xmlns:a16="http://schemas.microsoft.com/office/drawing/2014/main" id="{AAC441E0-C552-4E26-C044-1D082F72722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399" t="26775" r="6114" b="56978"/>
            <a:stretch>
              <a:fillRect/>
            </a:stretch>
          </p:blipFill>
          <p:spPr>
            <a:xfrm>
              <a:off x="2437338" y="6575684"/>
              <a:ext cx="1853016" cy="1826321"/>
            </a:xfrm>
            <a:prstGeom prst="rect">
              <a:avLst/>
            </a:prstGeom>
          </p:spPr>
        </p:pic>
        <p:sp>
          <p:nvSpPr>
            <p:cNvPr id="63" name="Arrow: Right 62">
              <a:extLst>
                <a:ext uri="{FF2B5EF4-FFF2-40B4-BE49-F238E27FC236}">
                  <a16:creationId xmlns:a16="http://schemas.microsoft.com/office/drawing/2014/main" id="{48C10027-9DA6-E1B6-6752-CD7E8841FAB5}"/>
                </a:ext>
              </a:extLst>
            </p:cNvPr>
            <p:cNvSpPr/>
            <p:nvPr/>
          </p:nvSpPr>
          <p:spPr>
            <a:xfrm>
              <a:off x="4422842" y="7395762"/>
              <a:ext cx="3029527" cy="360218"/>
            </a:xfrm>
            <a:prstGeom prst="rightArrow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5" name="Picture 64">
              <a:extLst>
                <a:ext uri="{FF2B5EF4-FFF2-40B4-BE49-F238E27FC236}">
                  <a16:creationId xmlns:a16="http://schemas.microsoft.com/office/drawing/2014/main" id="{279B97EC-56F4-5A0F-1B3F-B9D0436778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9995" t="19434" r="182" b="70705"/>
            <a:stretch>
              <a:fillRect/>
            </a:stretch>
          </p:blipFill>
          <p:spPr>
            <a:xfrm>
              <a:off x="7786900" y="6575684"/>
              <a:ext cx="1828800" cy="1836172"/>
            </a:xfrm>
            <a:prstGeom prst="rect">
              <a:avLst/>
            </a:prstGeom>
          </p:spPr>
        </p:pic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75C10E6-9526-8F91-BDF9-1184748E0D28}"/>
                </a:ext>
              </a:extLst>
            </p:cNvPr>
            <p:cNvSpPr txBox="1"/>
            <p:nvPr/>
          </p:nvSpPr>
          <p:spPr>
            <a:xfrm>
              <a:off x="4788589" y="6494968"/>
              <a:ext cx="2430780" cy="86177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Preferred: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Manual shape completion plus separate filling</a:t>
              </a:r>
            </a:p>
            <a:p>
              <a:r>
                <a:rPr lang="en-US" sz="1000" dirty="0"/>
                <a:t>Advanced: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000" dirty="0"/>
                <a:t>Morphology-assisted restoration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58452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190</Words>
  <Application>Microsoft Office PowerPoint</Application>
  <PresentationFormat>Widescreen</PresentationFormat>
  <Paragraphs>41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Tian, Mengkun</dc:creator>
  <cp:lastModifiedBy>Tian, Mengkun</cp:lastModifiedBy>
  <cp:revision>3</cp:revision>
  <dcterms:created xsi:type="dcterms:W3CDTF">2026-07-21T20:19:10Z</dcterms:created>
  <dcterms:modified xsi:type="dcterms:W3CDTF">2026-07-23T20:10:55Z</dcterms:modified>
</cp:coreProperties>
</file>
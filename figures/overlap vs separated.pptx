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15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5062-0C16-927D-522C-9658F10B5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929F5-9905-A109-3B3C-FD6C36CC7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368F5-E28A-48DA-B189-A39F2583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54128-8240-1EA7-C71C-BA5722A4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4A81-30EA-CF94-B959-B06AEAAA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4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23B0-00BB-333B-5949-10E5FE93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3BBA4-FC98-93C3-E117-83833456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F7CF8-2EA8-2B08-E2FF-056A297C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A66B2-EFAD-F8D7-F058-E92F3E6F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D6570-6E9E-5888-9DE3-F4BCBA4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3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7140-A1B2-C395-CE3B-5C3C8FD8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F900A-2E7A-020B-B6CF-78A6AC56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34C8E-6CD9-C530-FFFA-8D63206E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3ABC7-5D86-BE50-3F8F-2B24B54D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6F587-5A5C-D7A1-4D60-599ABBAE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9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01C8-9641-1A99-CD03-D5F7DBE0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44C4-2CED-3B3B-D951-17E0EB252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81AE2-10DE-6708-6153-16989C586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CF6CA-B6CF-7650-885A-E20AB0E5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63C19-2B1A-D88B-4B0A-86B4742E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03012-7209-6006-C1A9-1C065795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03F2-BCDF-2ECD-9AA6-B554D110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869C6-B7F5-089B-1B22-615CF8664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FE9AD-B87C-356D-17CF-A6BACFD54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6BD3F-8E07-C83D-13B3-E21FC83D1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6E3E2-7797-B6D9-F8C6-24E2BBC73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EC6CC9-3090-40FE-2B26-85C2DA53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08C55-93AE-934C-1780-DBF129E5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D89ED-45F3-1479-43EE-DA81F241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A626-CC73-994B-D7F9-5AEB4A80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C0B7B-B6D7-2D08-701A-BDA6BB46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AE971-9D5F-098F-D224-F86BEE9D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DCB52-8F63-A186-34B4-C1E31E03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0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47122-7EFC-E58A-DFBC-D2377776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FFF20-3BC7-3D9A-EF0C-D3C68026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4900E-3CE4-DC33-5102-9B49B299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6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E0C7-63BE-A884-E568-09ADA588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92E9-7258-73F3-4FC3-D18387CC6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E1D2C-0C43-516A-98CE-1F7E92AC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428CD-8B62-C93B-B662-3F0646D1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F2386-1742-8B84-0760-1ADF1204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86663-FA41-2616-FF0C-35CA3F99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4EB8-7BE9-499E-837D-7C7661CE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C84A8-1AE9-C4AD-B4DB-236FC8B1D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A1FD0-9429-94A9-AD79-823AAF785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8DFD3-1E70-12E9-D1BA-9AE009D7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31102-3EA7-6C6B-1F94-6A611082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AF2FF-2695-68E9-E4E7-CD9CFCEC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8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8BC5-614E-D8BF-50D9-8BE1A905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766FC-F1A3-575D-4351-55B5763CD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7BC0C-A320-6893-FDC8-1550A97C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7D506-B5C8-B8A8-BB89-EBA252CC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AAAE-C476-10FE-52F3-F0206C17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EAEAD-8395-055F-5686-E1055DBC2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A94B2-8839-B9E3-C82C-02E897628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F97BD-435A-6EB7-232B-4F7A36AE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A058-2EB6-6C81-E2F3-9EC8D82BD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9C94F-56EB-0294-369A-00B0FEF8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9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2B7692-3E54-8C4D-F391-B1E94D65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BE9F0-3A5A-EC2B-77AB-077519066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B1F5-77B9-5BD1-4332-41F562D1B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E89FB-0AEC-40DA-944B-EB6C1352857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4E82A-E920-6A69-8D29-A30D616FA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CF3F1-AFCB-D339-4E5D-FF1F1E8AC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3E497-F561-411E-9482-6CFC6CF14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1A17EFA-04CA-A77D-C68C-1E501957D8C2}"/>
              </a:ext>
            </a:extLst>
          </p:cNvPr>
          <p:cNvSpPr txBox="1"/>
          <p:nvPr/>
        </p:nvSpPr>
        <p:spPr>
          <a:xfrm>
            <a:off x="336884" y="3518034"/>
            <a:ext cx="1101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altLang="zh-CN" dirty="0"/>
              <a:t>igure 1.a. Well separated particles. b. one particle slightly overlap with </a:t>
            </a:r>
            <a:r>
              <a:rPr lang="en-US" altLang="zh-CN" dirty="0" err="1"/>
              <a:t>neighbouring</a:t>
            </a:r>
            <a:r>
              <a:rPr lang="en-US" altLang="zh-CN" dirty="0"/>
              <a:t> 3 particles. c. multiple nanoparticle overlapped together that human cannot recognize. 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9FF4A1-CED7-43A5-D9E2-F68B90D45985}"/>
              </a:ext>
            </a:extLst>
          </p:cNvPr>
          <p:cNvGrpSpPr/>
          <p:nvPr/>
        </p:nvGrpSpPr>
        <p:grpSpPr>
          <a:xfrm>
            <a:off x="-152400" y="-2"/>
            <a:ext cx="11524653" cy="3339969"/>
            <a:chOff x="-152400" y="-2"/>
            <a:chExt cx="11524653" cy="33399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813BD2D-15A8-1579-F474-769E706CF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3" r="52686" b="64277"/>
            <a:stretch>
              <a:fillRect/>
            </a:stretch>
          </p:blipFill>
          <p:spPr>
            <a:xfrm>
              <a:off x="4166135" y="-2"/>
              <a:ext cx="3358417" cy="333996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E55DD77-F41A-423F-0AB5-D2677B791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84" y="0"/>
              <a:ext cx="3339967" cy="333996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929856-D246-BB21-1C92-DE6CDBA07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91" t="18231" r="229" b="51826"/>
            <a:stretch>
              <a:fillRect/>
            </a:stretch>
          </p:blipFill>
          <p:spPr>
            <a:xfrm>
              <a:off x="8028449" y="-1"/>
              <a:ext cx="3343804" cy="333996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BD17EC-D728-0D08-B33A-615C03EA10B8}"/>
                </a:ext>
              </a:extLst>
            </p:cNvPr>
            <p:cNvSpPr txBox="1"/>
            <p:nvPr/>
          </p:nvSpPr>
          <p:spPr>
            <a:xfrm>
              <a:off x="-152400" y="0"/>
              <a:ext cx="48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601C55-983A-B190-C37C-EBB105354542}"/>
                </a:ext>
              </a:extLst>
            </p:cNvPr>
            <p:cNvSpPr txBox="1"/>
            <p:nvPr/>
          </p:nvSpPr>
          <p:spPr>
            <a:xfrm>
              <a:off x="3676851" y="0"/>
              <a:ext cx="48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1DC4A3-590D-5BA0-43C3-A3B0A4CAEFAC}"/>
                </a:ext>
              </a:extLst>
            </p:cNvPr>
            <p:cNvSpPr txBox="1"/>
            <p:nvPr/>
          </p:nvSpPr>
          <p:spPr>
            <a:xfrm>
              <a:off x="7524552" y="-2"/>
              <a:ext cx="48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102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BC09F8-D95D-8E66-53C1-54EE0E424833}"/>
              </a:ext>
            </a:extLst>
          </p:cNvPr>
          <p:cNvSpPr txBox="1"/>
          <p:nvPr/>
        </p:nvSpPr>
        <p:spPr>
          <a:xfrm>
            <a:off x="0" y="0"/>
            <a:ext cx="372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cleaning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2AB356-A834-8078-7E54-DC424553CCDC}"/>
              </a:ext>
            </a:extLst>
          </p:cNvPr>
          <p:cNvSpPr/>
          <p:nvPr/>
        </p:nvSpPr>
        <p:spPr>
          <a:xfrm>
            <a:off x="10436984" y="618850"/>
            <a:ext cx="1927496" cy="6313055"/>
          </a:xfrm>
          <a:prstGeom prst="rect">
            <a:avLst/>
          </a:prstGeom>
          <a:solidFill>
            <a:srgbClr val="92D050">
              <a:alpha val="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DA1932E-E7CE-D90E-555E-E6782C1CC3E6}"/>
              </a:ext>
            </a:extLst>
          </p:cNvPr>
          <p:cNvGrpSpPr/>
          <p:nvPr/>
        </p:nvGrpSpPr>
        <p:grpSpPr>
          <a:xfrm>
            <a:off x="2196769" y="-650722"/>
            <a:ext cx="7418932" cy="9062578"/>
            <a:chOff x="2196769" y="-650722"/>
            <a:chExt cx="7418932" cy="906257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33B885-1185-CD21-DCE7-71F209DB5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401" t="50531" r="1848" b="-247"/>
            <a:stretch>
              <a:fillRect/>
            </a:stretch>
          </p:blipFill>
          <p:spPr>
            <a:xfrm rot="5400000">
              <a:off x="2478176" y="-40870"/>
              <a:ext cx="1830160" cy="18288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8E193A4-FBCC-27D8-738C-3744DDCBDB79}"/>
                </a:ext>
              </a:extLst>
            </p:cNvPr>
            <p:cNvGrpSpPr/>
            <p:nvPr/>
          </p:nvGrpSpPr>
          <p:grpSpPr>
            <a:xfrm>
              <a:off x="2492711" y="1243511"/>
              <a:ext cx="857250" cy="369332"/>
              <a:chOff x="4531466" y="2454594"/>
              <a:chExt cx="857250" cy="369332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8F0C72-6BA8-67DA-86B7-2C9FF88AB672}"/>
                  </a:ext>
                </a:extLst>
              </p:cNvPr>
              <p:cNvSpPr/>
              <p:nvPr/>
            </p:nvSpPr>
            <p:spPr>
              <a:xfrm>
                <a:off x="4576043" y="2769062"/>
                <a:ext cx="768096" cy="548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D0C05F-8D29-3DCE-52E5-CB9F3AFE4E4D}"/>
                  </a:ext>
                </a:extLst>
              </p:cNvPr>
              <p:cNvSpPr txBox="1"/>
              <p:nvPr/>
            </p:nvSpPr>
            <p:spPr>
              <a:xfrm>
                <a:off x="4531466" y="2454594"/>
                <a:ext cx="857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</a:rPr>
                  <a:t>20 nm</a:t>
                </a:r>
              </a:p>
            </p:txBody>
          </p:sp>
        </p:grp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E50DA43C-A467-C8F0-8361-77E488617599}"/>
                </a:ext>
              </a:extLst>
            </p:cNvPr>
            <p:cNvSpPr/>
            <p:nvPr/>
          </p:nvSpPr>
          <p:spPr>
            <a:xfrm>
              <a:off x="4489216" y="1368446"/>
              <a:ext cx="3029527" cy="360218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7E8EC0-0831-41FB-CBA1-2D13E0DEDD0C}"/>
                </a:ext>
              </a:extLst>
            </p:cNvPr>
            <p:cNvSpPr txBox="1"/>
            <p:nvPr/>
          </p:nvSpPr>
          <p:spPr>
            <a:xfrm>
              <a:off x="2380160" y="-364608"/>
              <a:ext cx="22010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Case 1: with background only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FD13F5-30FD-F918-4E06-4E23B0B0B0F1}"/>
                </a:ext>
              </a:extLst>
            </p:cNvPr>
            <p:cNvSpPr txBox="1"/>
            <p:nvPr/>
          </p:nvSpPr>
          <p:spPr>
            <a:xfrm>
              <a:off x="5572779" y="-650722"/>
              <a:ext cx="995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Strategies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84D207-94A9-DE9C-DDE9-A398B45F49A2}"/>
                </a:ext>
              </a:extLst>
            </p:cNvPr>
            <p:cNvSpPr txBox="1"/>
            <p:nvPr/>
          </p:nvSpPr>
          <p:spPr>
            <a:xfrm>
              <a:off x="3037614" y="-650722"/>
              <a:ext cx="8988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Cases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920FE4-0672-CBE8-D035-69A833570FFA}"/>
                </a:ext>
              </a:extLst>
            </p:cNvPr>
            <p:cNvSpPr txBox="1"/>
            <p:nvPr/>
          </p:nvSpPr>
          <p:spPr>
            <a:xfrm>
              <a:off x="4531870" y="-159397"/>
              <a:ext cx="3128260" cy="17851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Preferred: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Smooth background: </a:t>
              </a:r>
              <a:r>
                <a:rPr lang="en-US" sz="1000" dirty="0" err="1"/>
                <a:t>Telea</a:t>
              </a:r>
              <a:r>
                <a:rPr lang="en-US" sz="1000" dirty="0"/>
                <a:t>, PDE, TV, or surface fitting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Texture background: Constrained </a:t>
              </a:r>
              <a:r>
                <a:rPr lang="en-US" sz="1000" dirty="0" err="1"/>
                <a:t>PatchMatch</a:t>
              </a:r>
              <a:r>
                <a:rPr lang="en-US" sz="1000" dirty="0"/>
                <a:t> or local patch synthesis</a:t>
              </a:r>
            </a:p>
            <a:p>
              <a:r>
                <a:rPr lang="en-US" sz="1000" dirty="0"/>
                <a:t>Advanced: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Smooth background: DCT-sparse or TEM-adapted inpainting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Texture background: </a:t>
              </a:r>
              <a:r>
                <a:rPr lang="en-US" sz="10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TEM-adapted </a:t>
              </a:r>
              <a:r>
                <a:rPr lang="en-US" sz="1000" dirty="0" err="1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LaMa</a:t>
              </a:r>
              <a:r>
                <a:rPr lang="en-US" sz="10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/partial convolution</a:t>
              </a:r>
              <a:endParaRPr lang="en-US" sz="10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FD8FF41-66F8-2DFC-AFAE-DD9037AA8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401" t="50531" r="1848" b="-247"/>
            <a:stretch>
              <a:fillRect/>
            </a:stretch>
          </p:blipFill>
          <p:spPr>
            <a:xfrm rot="5400000">
              <a:off x="7786220" y="-40870"/>
              <a:ext cx="1830160" cy="18288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E08666-43A4-630D-1BA5-F51EFE0A5C08}"/>
                </a:ext>
              </a:extLst>
            </p:cNvPr>
            <p:cNvSpPr txBox="1"/>
            <p:nvPr/>
          </p:nvSpPr>
          <p:spPr>
            <a:xfrm>
              <a:off x="8251895" y="-641607"/>
              <a:ext cx="12174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Target result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E4779B3-77E3-2734-E832-13F54BC82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0" t="10903" r="24793" b="61518"/>
            <a:stretch>
              <a:fillRect/>
            </a:stretch>
          </p:blipFill>
          <p:spPr>
            <a:xfrm rot="5400000">
              <a:off x="2492737" y="2130328"/>
              <a:ext cx="1828747" cy="18288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61E76B0-2391-243B-8F09-C04BE3163EF6}"/>
                </a:ext>
              </a:extLst>
            </p:cNvPr>
            <p:cNvSpPr txBox="1"/>
            <p:nvPr/>
          </p:nvSpPr>
          <p:spPr>
            <a:xfrm>
              <a:off x="2380159" y="1834669"/>
              <a:ext cx="21090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Case 2: with particle only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1DC89AB-3065-5EDB-ABEB-C0D2BA0AA4E4}"/>
                </a:ext>
              </a:extLst>
            </p:cNvPr>
            <p:cNvGrpSpPr/>
            <p:nvPr/>
          </p:nvGrpSpPr>
          <p:grpSpPr>
            <a:xfrm>
              <a:off x="2428145" y="3397194"/>
              <a:ext cx="852678" cy="353836"/>
              <a:chOff x="4536038" y="2482026"/>
              <a:chExt cx="852678" cy="353836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7305E91-514B-72D8-0305-91CE46005DD5}"/>
                  </a:ext>
                </a:extLst>
              </p:cNvPr>
              <p:cNvSpPr/>
              <p:nvPr/>
            </p:nvSpPr>
            <p:spPr>
              <a:xfrm>
                <a:off x="4703763" y="2780998"/>
                <a:ext cx="343204" cy="548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2A3AF7B-4331-D42D-4BA2-0ED8815335CB}"/>
                  </a:ext>
                </a:extLst>
              </p:cNvPr>
              <p:cNvSpPr txBox="1"/>
              <p:nvPr/>
            </p:nvSpPr>
            <p:spPr>
              <a:xfrm>
                <a:off x="4536038" y="2482026"/>
                <a:ext cx="8526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>
                    <a:solidFill>
                      <a:schemeClr val="bg1"/>
                    </a:solidFill>
                  </a:rPr>
                  <a:t>10 nm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5FE8F1D-7F1F-3BB0-D1E6-48FE51EA9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0" t="10903" r="24793" b="61518"/>
            <a:stretch>
              <a:fillRect/>
            </a:stretch>
          </p:blipFill>
          <p:spPr>
            <a:xfrm rot="5400000">
              <a:off x="7786927" y="2130328"/>
              <a:ext cx="1828747" cy="1828800"/>
            </a:xfrm>
            <a:prstGeom prst="rect">
              <a:avLst/>
            </a:prstGeom>
          </p:spPr>
        </p:pic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204D5744-E30D-FEC3-730E-1D53F7681DB4}"/>
                </a:ext>
              </a:extLst>
            </p:cNvPr>
            <p:cNvSpPr/>
            <p:nvPr/>
          </p:nvSpPr>
          <p:spPr>
            <a:xfrm>
              <a:off x="4522902" y="3153550"/>
              <a:ext cx="3029527" cy="360218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8B4A1C6-499D-431B-B6CA-B8F7023649C9}"/>
                </a:ext>
              </a:extLst>
            </p:cNvPr>
            <p:cNvSpPr txBox="1"/>
            <p:nvPr/>
          </p:nvSpPr>
          <p:spPr>
            <a:xfrm>
              <a:off x="4581236" y="2199011"/>
              <a:ext cx="243078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Preferred: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Same-particle </a:t>
              </a:r>
              <a:r>
                <a:rPr lang="en-US" sz="1000" dirty="0" err="1"/>
                <a:t>PatchMatch</a:t>
              </a:r>
              <a:r>
                <a:rPr lang="en-US" sz="1000" dirty="0"/>
                <a:t> or directional interpolation</a:t>
              </a:r>
            </a:p>
            <a:p>
              <a:r>
                <a:rPr lang="en-US" sz="1000" dirty="0"/>
                <a:t>Advanced: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TEM-adapted inpainting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3671C5D-D350-AFE5-DB45-8B691A622F17}"/>
                </a:ext>
              </a:extLst>
            </p:cNvPr>
            <p:cNvSpPr txBox="1"/>
            <p:nvPr/>
          </p:nvSpPr>
          <p:spPr>
            <a:xfrm>
              <a:off x="2198647" y="4030904"/>
              <a:ext cx="25767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Case 3: with background + particle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C4BE566-2E37-75EF-F31D-D934F791E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26" t="15640" r="13208" b="42822"/>
            <a:stretch>
              <a:fillRect/>
            </a:stretch>
          </p:blipFill>
          <p:spPr>
            <a:xfrm rot="5400000">
              <a:off x="2458697" y="4308139"/>
              <a:ext cx="1834513" cy="1828800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50CE974-E61F-B4D4-A6E3-A6F3EFD1227A}"/>
                </a:ext>
              </a:extLst>
            </p:cNvPr>
            <p:cNvSpPr/>
            <p:nvPr/>
          </p:nvSpPr>
          <p:spPr>
            <a:xfrm>
              <a:off x="2629277" y="5931983"/>
              <a:ext cx="684953" cy="460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C01F06-B0CD-29DB-F322-DDAC0B24C133}"/>
                </a:ext>
              </a:extLst>
            </p:cNvPr>
            <p:cNvSpPr txBox="1"/>
            <p:nvPr/>
          </p:nvSpPr>
          <p:spPr>
            <a:xfrm>
              <a:off x="2537288" y="5670265"/>
              <a:ext cx="852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bg1"/>
                  </a:solidFill>
                </a:rPr>
                <a:t>15 nm</a:t>
              </a:r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575B578C-650A-AA30-C22D-009D668D166A}"/>
                </a:ext>
              </a:extLst>
            </p:cNvPr>
            <p:cNvSpPr/>
            <p:nvPr/>
          </p:nvSpPr>
          <p:spPr>
            <a:xfrm>
              <a:off x="4417722" y="5655542"/>
              <a:ext cx="3029527" cy="360218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76B3AAC-1BD6-5AE0-24B5-C726F78E0579}"/>
                </a:ext>
              </a:extLst>
            </p:cNvPr>
            <p:cNvSpPr txBox="1"/>
            <p:nvPr/>
          </p:nvSpPr>
          <p:spPr>
            <a:xfrm>
              <a:off x="4581236" y="4460275"/>
              <a:ext cx="243078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Preferred: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Manual shape completion plus separate filling</a:t>
              </a:r>
            </a:p>
            <a:p>
              <a:r>
                <a:rPr lang="en-US" sz="1000" dirty="0"/>
                <a:t>Advanced: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Morphology-assisted restoration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EBF4C5D-882A-DFB6-1835-A3A0AABCA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26" t="15640" r="13208" b="42822"/>
            <a:stretch>
              <a:fillRect/>
            </a:stretch>
          </p:blipFill>
          <p:spPr>
            <a:xfrm rot="5400000">
              <a:off x="7784044" y="4347151"/>
              <a:ext cx="1834513" cy="18288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17C2550-3F17-D3A6-516B-113D0ED7B68F}"/>
                </a:ext>
              </a:extLst>
            </p:cNvPr>
            <p:cNvSpPr txBox="1"/>
            <p:nvPr/>
          </p:nvSpPr>
          <p:spPr>
            <a:xfrm>
              <a:off x="2196769" y="6231720"/>
              <a:ext cx="25767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Case 4: highly overlapped particles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AAC441E0-C552-4E26-C044-1D082F727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99" t="26775" r="6114" b="56978"/>
            <a:stretch>
              <a:fillRect/>
            </a:stretch>
          </p:blipFill>
          <p:spPr>
            <a:xfrm>
              <a:off x="2437338" y="6575684"/>
              <a:ext cx="1853016" cy="1826321"/>
            </a:xfrm>
            <a:prstGeom prst="rect">
              <a:avLst/>
            </a:prstGeom>
          </p:spPr>
        </p:pic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48C10027-9DA6-E1B6-6752-CD7E8841FAB5}"/>
                </a:ext>
              </a:extLst>
            </p:cNvPr>
            <p:cNvSpPr/>
            <p:nvPr/>
          </p:nvSpPr>
          <p:spPr>
            <a:xfrm>
              <a:off x="4422842" y="7395762"/>
              <a:ext cx="3029527" cy="360218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79B97EC-56F4-5A0F-1B3F-B9D043677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995" t="19434" r="182" b="70705"/>
            <a:stretch>
              <a:fillRect/>
            </a:stretch>
          </p:blipFill>
          <p:spPr>
            <a:xfrm>
              <a:off x="7786900" y="6575684"/>
              <a:ext cx="1828800" cy="1836172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5C10E6-9526-8F91-BDF9-1184748E0D28}"/>
                </a:ext>
              </a:extLst>
            </p:cNvPr>
            <p:cNvSpPr txBox="1"/>
            <p:nvPr/>
          </p:nvSpPr>
          <p:spPr>
            <a:xfrm>
              <a:off x="4788589" y="6494968"/>
              <a:ext cx="243078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Preferred: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Manual shape completion plus separate filling</a:t>
              </a:r>
            </a:p>
            <a:p>
              <a:r>
                <a:rPr lang="en-US" sz="1000" dirty="0"/>
                <a:t>Advanced: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Morphology-assisted restoration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5845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152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Mengkun</dc:creator>
  <cp:lastModifiedBy>Tian, Mengkun</cp:lastModifiedBy>
  <cp:revision>2</cp:revision>
  <dcterms:created xsi:type="dcterms:W3CDTF">2026-07-21T20:19:10Z</dcterms:created>
  <dcterms:modified xsi:type="dcterms:W3CDTF">2026-07-21T21:14:18Z</dcterms:modified>
</cp:coreProperties>
</file>